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4566" y="2121400"/>
            <a:ext cx="921648" cy="19749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94" y="1858072"/>
            <a:ext cx="394992" cy="3072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22342" y="1748352"/>
            <a:ext cx="746096" cy="15360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68438" y="1792240"/>
            <a:ext cx="241384" cy="87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18586" y="1528912"/>
            <a:ext cx="153608" cy="153608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94" y="1616688"/>
            <a:ext cx="54860" cy="548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14830" y="1594744"/>
            <a:ext cx="43888" cy="43888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07614" y="1441136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8998" y="1463080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F5F7"/>
                </a:solidFill>
                <a:latin typeface="SF Pro Display"/>
              </a:rPr>
              <a:t>FORGE</a:t>
            </a:r>
            <a:endParaRPr sz="52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6868B"/>
                </a:solidFill>
                <a:latin typeface="PingFang SC" panose="020B0400000000000000" charset="-122"/>
              </a:rPr>
              <a:t>面向 AI 时代的智能交付平台</a:t>
            </a:r>
            <a:endParaRPr sz="22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SF Pro Display"/>
              </a:rPr>
              <a:t>2026.02</a:t>
            </a:r>
            <a:endParaRPr sz="1500" b="0">
              <a:solidFill>
                <a:srgbClr val="48484A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00"/>
              </a:lnSpc>
            </a:pPr>
            <a:r>
              <a:rPr sz="5200" b="1">
                <a:solidFill>
                  <a:srgbClr val="F5F5F7"/>
                </a:solidFill>
                <a:latin typeface="PingFang SC" panose="020B0400000000000000" charset="-122"/>
              </a:rPr>
              <a:t>当 1 个人 + AI
拥有 7 人团队的交付能力</a:t>
            </a:r>
            <a:endParaRPr sz="5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我们面对的现实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0" y="1874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5-7 人的 Scrum 团队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每个角色一个人，知识在人脑里，人走知识就没了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AI 只是"更快的打字员"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给每个人配一个 AI 助手，不等于交付效率的质变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7280" y="4160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跨栈迁移是黑洞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没人懂旧技术栈，人工迁移动辄数十人月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97280" y="5303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经验不沉淀，错误在重复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同样的部署失败、同样的安全漏洞，每个项目重来一遍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997FF"/>
                </a:solidFill>
                <a:latin typeface="PingFang SC" panose="020B0400000000000000" charset="-122"/>
              </a:rPr>
              <a:t>问题的本质不是工具不够，是交付流程本身没有被重构。</a:t>
            </a:r>
            <a:endParaRPr sz="18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三个关键洞察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52044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SuperAgent
不是 Multi-Agent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不是 5 个角色各配一个 AI。
而是 1 个超级智能体，
通过 Skill Profile 动态切换。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1 个智能体 &gt; 5 个独立 Agent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Skill 是
真正的护城河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模型会被追平，Prompt 会被抄走。
但编码了十年经验的 Skill 体系，
无法复制。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25+ Skills = 经验的数字化资产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双环驱动
越用越好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交付环做事，进化环学习。
每次交付产生知识沉淀，
反哺下一次交付。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交付 × 进化 = 飞轮效应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一个智能体，五种角色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根据任务自动切换 Skill Profile，覆盖从需求到运维的完整交付链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规划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Planning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需求分析
PRD 编写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52928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设计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1528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Design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81528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架构设计
API 设计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57216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57216" y="2011680"/>
            <a:ext cx="2103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开发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85816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Development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85816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代码生成
13 Foundation Skills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61504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测试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90104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Testing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90104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用例设计
自动化执行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765792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65792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运维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94392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Ops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94392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部署策略
K8s 编排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SF Pro Display"/>
              </a:rPr>
              <a:t>OODA 循环</a:t>
            </a:r>
            <a:endParaRPr sz="12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Observe  观察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176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6324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Orient  分析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060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1208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Decide  决策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60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Act  执行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8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0976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997FF"/>
                </a:solidFill>
                <a:latin typeface="PingFang SC" panose="020B0400000000000000" charset="-122"/>
              </a:rPr>
              <a:t>HITL  人在回路</a:t>
            </a:r>
            <a:endParaRPr sz="15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四层解耦，独立演进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每一层可以独立升级，不影响其他层 — 这是平台能活过模型迭代的根本原因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L1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用户交互层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User Interaction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CLI / VS Code (开发者) + Web IDE (全角色)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Monaco 编辑器  ·  AI Chat  ·  知识浏览  ·  可视化工作流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26974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45720" cy="109728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997FF"/>
                </a:solidFill>
                <a:latin typeface="SF Pro Display"/>
              </a:rPr>
              <a:t>L2</a:t>
            </a:r>
            <a:endParaRPr sz="14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73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SuperAgent 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Intelligence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97FF"/>
                </a:solidFill>
                <a:latin typeface="PingFang SC" panose="020B0400000000000000" charset="-122"/>
              </a:rPr>
              <a:t>5 Profiles × 25+ Skills × 8 Baselines</a:t>
            </a:r>
            <a:endParaRPr sz="14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7360" y="3611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Skill Profile Router  ·  Baseline Runner  ·  Skill Market ↔ Capability Market (MCP)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39319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L3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373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Agent Runtime 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19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Runtime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3736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MCP 协议  ·  Tool Calling  ·  沙箱  ·  可观测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9 聚合工具  ·  安全围栏  ·  SuperAgent 评估框架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80" y="51663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06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L4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373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数据与模型层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319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Data &amp; Model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3736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公域模型 (Claude)  +  私域数据 (知识库 12+)  +  垂域模型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3736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MCP Gateway → Knowledge / Database / ServiceGraph / Artifact / Observability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997FF"/>
                </a:solidFill>
                <a:latin typeface="PingFang SC" panose="020B0400000000000000" charset="-122"/>
              </a:rPr>
              <a:t>模型从 Opus 换成 GPT?  换 L3 的 Adapter。Skills 和 Baselines 一行不改。</a:t>
            </a:r>
            <a:endParaRPr sz="14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稳态固化 · 敏态抽象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模型一定会被追平，能力编码为 Skill 才是真正的护城河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389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97FF"/>
                </a:solidFill>
                <a:latin typeface="PingFang SC" panose="020B0400000000000000" charset="-122"/>
              </a:rPr>
              <a:t>稳态 — 核心资产</a:t>
            </a:r>
            <a:endParaRPr sz="2000" b="1">
              <a:solidFill>
                <a:srgbClr val="2997FF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越积越厚，无法复制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25+ Skills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184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十年工程经验的数字化编码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8 Baselines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3438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质量底线自动守护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5 Profiles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全交付角色覆盖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4590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12+ Knowledge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0" y="4608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私域知识持续沉淀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OODA 流程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5193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标准化决策环路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2905" y="2926080"/>
            <a:ext cx="1005840" cy="1828800"/>
          </a:xfrm>
          <a:prstGeom prst="roundRect">
            <a:avLst>
              <a:gd name="adj" fmla="val 4000"/>
            </a:avLst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7975" y="3127375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d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p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t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e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r</a:t>
            </a:r>
            <a:endParaRPr sz="1400" b="1">
              <a:solidFill>
                <a:srgbClr val="000000"/>
              </a:solidFill>
              <a:latin typeface="SF Pro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997FF"/>
                </a:solidFill>
                <a:latin typeface="SF Pro Display"/>
              </a:rPr>
              <a:t>→</a:t>
            </a:r>
            <a:endParaRPr sz="1800" b="0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4088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1645920"/>
            <a:ext cx="4389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6868B"/>
                </a:solidFill>
                <a:latin typeface="PingFang SC" panose="020B0400000000000000" charset="-122"/>
              </a:rPr>
              <a:t>敏态 — 可替换组件</a:t>
            </a:r>
            <a:endParaRPr sz="2000" b="1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技术迭代时只换这里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ModelAdapter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952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Claude → GPT → Local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RuntimeAdapter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Claude Code → ForgeNative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95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AssetFormatAdapter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8952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SKILL.md v1 → v2 → ...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698480" cy="488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0">
                <a:solidFill>
                  <a:schemeClr val="bg1"/>
                </a:solidFill>
                <a:latin typeface="SF Mono"/>
              </a:rPr>
              <a:t>ModelAdapter.kt  ·  RuntimeAdapter.kt  ·  AssetFormatAdapter.kt</a:t>
            </a:r>
            <a:endParaRPr sz="1200" b="0">
              <a:solidFill>
                <a:schemeClr val="bg1"/>
              </a:solidFill>
              <a:latin typeface="SF Mono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45720" cy="77724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806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97FF"/>
                </a:solidFill>
                <a:latin typeface="PingFang SC" panose="020B0400000000000000" charset="-122"/>
              </a:rPr>
              <a:t>战略意义</a:t>
            </a:r>
            <a:endParaRPr sz="1300" b="1">
              <a:solidFill>
                <a:srgbClr val="2997FF"/>
              </a:solidFill>
              <a:latin typeface="PingFang SC" panose="020B0400000000000000" charset="-122"/>
            </a:endParaRPr>
          </a:p>
          <a:p>
            <a:pPr algn="l">
              <a:lnSpc>
                <a:spcPts val="22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OpenAI 发布更好的模型？换一个 Adapter。Claude Code 被替代？切换 ForgeNativeRuntime。
但 25 个 Skill 编码的十年工程经验，竞争对手无法复制。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AI 不再只是聊天，而是交付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A"/>
                </a:solidFill>
                <a:latin typeface="SF Pro Display"/>
              </a:rPr>
              <a:t>Before</a:t>
            </a:r>
            <a:endParaRPr sz="1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AI 在聊天窗口展示代码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用户手动复制粘贴到文件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用户手动创建和管理文件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知识搜索返回 mock 数据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没有认证，没有权限控制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AI 不了解项目结构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997FF"/>
                </a:solidFill>
                <a:latin typeface="SF Pro Display"/>
              </a:rPr>
              <a:t>→</a:t>
            </a:r>
            <a:endParaRPr sz="3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997FF"/>
                </a:solidFill>
                <a:latin typeface="SF Pro Display"/>
              </a:rPr>
              <a:t>After — Forge</a:t>
            </a:r>
            <a:endParaRPr sz="18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AI 直接写文件到 workspace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workspace_write / read / list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文件树自动刷新，编辑器自动打开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SSE file_changed 事件驱动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AI 主动了解项目结构再动手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workspace_list_files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知识搜索返回真实文档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12+ 知识库文档实连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Keycloak SSO 企业级认证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OIDC PKCE + 4 容器部署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代码块一键 Apply + 5 秒自动保存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零摩擦交付体验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我们走到了哪里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Phase 0 → 1 → 1.5 → 1.6  完成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3585" y="2336165"/>
            <a:ext cx="265176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7"/>
                </a:solidFill>
                <a:latin typeface="SF Pro Display"/>
              </a:rPr>
              <a:t>45,000+</a:t>
            </a:r>
            <a:endParaRPr sz="4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行代码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1880" y="2124075"/>
            <a:ext cx="265176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7"/>
                </a:solidFill>
                <a:latin typeface="SF Pro Display"/>
              </a:rPr>
              <a:t>320</a:t>
            </a:r>
            <a:r>
              <a:rPr sz="6400" b="1">
                <a:solidFill>
                  <a:srgbClr val="F5F5F7"/>
                </a:solidFill>
                <a:latin typeface="SF Pro Display"/>
              </a:rPr>
              <a:t>+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188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130+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测试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7260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89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7260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验收场景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997FF"/>
                </a:solidFill>
                <a:latin typeface="SF Pro Display"/>
              </a:rPr>
              <a:t>9</a:t>
            </a:r>
            <a:endParaRPr sz="5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MCP 工具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5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188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Skill Profile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13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Foundation Skill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7260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4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7260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Docker 容器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7280" y="393192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docker compose up → Keycloak SSO → AI 对话 → 代码写入 workspace → 文件树刷新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跨栈迁移：10 倍提效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"没人懂旧技术栈"的困局，AI 可以系统性地解决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01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AI 代码考古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解析项目结构
生成项目说明书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61488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02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业务规则提取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4368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逐模块分析
规则 + 边界条件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7448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65776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03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48656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架构设计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8656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.NET → Java 映射
依赖拓扑排列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1736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70064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0064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04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52944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逐模块迁移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52944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SuperAgent 编写
规范自动遵循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36024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74352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74352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05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57232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行为等价验证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57232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API 契约对比
规则覆盖度检查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97280" y="475488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传统方式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86868B"/>
                </a:solidFill>
                <a:latin typeface="SF Pro Display"/>
              </a:rPr>
              <a:t>50-65 人天</a:t>
            </a:r>
            <a:endParaRPr sz="3200" b="1">
              <a:solidFill>
                <a:srgbClr val="86868B"/>
              </a:solidFill>
              <a:latin typeface="SF Pro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0" y="5303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SF Pro Display"/>
              </a:rPr>
              <a:t>→</a:t>
            </a:r>
            <a:endParaRPr sz="2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Forge 辅助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997FF"/>
                </a:solidFill>
                <a:latin typeface="SF Pro Display"/>
              </a:rPr>
              <a:t>5-7 人天</a:t>
            </a:r>
            <a:endParaRPr sz="32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0" y="5120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997FF"/>
                </a:solidFill>
                <a:latin typeface="SF Pro Display"/>
              </a:rPr>
              <a:t>10x</a:t>
            </a:r>
            <a:endParaRPr sz="4800" b="1">
              <a:solidFill>
                <a:srgbClr val="2997FF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速度不缺，缺的是安全网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首次部署成功率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5F5F7"/>
                </a:solidFill>
                <a:latin typeface="SF Pro Display"/>
              </a:rPr>
              <a:t>7.7%</a:t>
            </a:r>
            <a:endParaRPr sz="7200" b="1">
              <a:solidFill>
                <a:srgbClr val="F5F5F7"/>
              </a:solidFill>
              <a:latin typeface="SF Pro Display"/>
            </a:endParaRP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13 次尝试，90 分钟，10 个计划外问题。CORS 通配符直接进入 commit，无人察觉。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系统性解决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痛点不修补，而是编码为平台能力。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8 道质量底线自动拦截，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让未来的开发者无感地获得保护。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目标成功率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600" b="1">
                <a:solidFill>
                  <a:srgbClr val="2997FF"/>
                </a:solidFill>
                <a:latin typeface="SF Pro Display"/>
              </a:rPr>
              <a:t>≥ 90%</a:t>
            </a:r>
            <a:endParaRPr sz="5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已验证的设计不可隐式退化  ·  开发者痛点即平台能力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从工具到平台到生态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97FF"/>
                </a:solidFill>
                <a:latin typeface="SF Pro Display"/>
              </a:rPr>
              <a:t>已完成</a:t>
            </a:r>
            <a:endParaRPr sz="14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52044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0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骨架搭建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Web IDE 实连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1.5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设计守护 + Docker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1.6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AI 交付闭环 + SSO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SF Pro Display"/>
              </a:rPr>
              <a:t>下一步</a:t>
            </a:r>
            <a:endParaRPr sz="1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26280" y="2103120"/>
            <a:ext cx="352044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2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OODA 引擎 + SkillLoader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底线脚本 CI 集成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跨栈迁移 PoC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3-5 人内部试用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484A"/>
                </a:solidFill>
                <a:latin typeface="SF Pro Display"/>
              </a:rPr>
              <a:t>远景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5204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3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进化环闭合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Runtime 完全抽象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4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Skill 生态开放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全组织部署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PingFang SC" panose="020B0400000000000000" charset="-122"/>
              </a:rPr>
              <a:t>终局：1 人 + SuperAgent 全自主交付  ·  Skill 生态开放  ·  知识持续进化</a:t>
            </a:r>
            <a:endParaRPr sz="15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下一步需要什么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45720" cy="128016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997FF"/>
                </a:solidFill>
                <a:latin typeface="SF Pro Display"/>
              </a:rPr>
              <a:t>01</a:t>
            </a:r>
            <a:endParaRPr sz="28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API Key + 试用环境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完成 Claude API 接入，3-5 人真实使用。
交付闭环已就绪，差这一步跑通完整流程。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02</a:t>
            </a:r>
            <a:endParaRPr sz="2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1 个试点项目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选一个小型 .NET → Java 模块，验证 10x 假设。
最有说服力的场景，可产出量化 ROI。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03</a:t>
            </a:r>
            <a:endParaRPr sz="2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CI/CD 管道接入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440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8 个底线脚本集成到 GitHub Actions。
让质量安全网从"设计了"变成"跑起来"。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88160" y="1719070"/>
            <a:ext cx="614460" cy="13167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3720" y="1543510"/>
            <a:ext cx="263340" cy="2048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46680" y="1470360"/>
            <a:ext cx="497420" cy="10241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44100" y="1499620"/>
            <a:ext cx="160930" cy="585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44185" y="1324060"/>
            <a:ext cx="102410" cy="102410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3720" y="1382580"/>
            <a:ext cx="36575" cy="3657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1690" y="1367950"/>
            <a:ext cx="29260" cy="292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6870" y="126554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97800" y="128017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PingFang SC" panose="020B0400000000000000" charset="-122"/>
              </a:rPr>
              <a:t>不是给每个人配一个 AI 助手</a:t>
            </a:r>
            <a:endParaRPr sz="28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5F7"/>
                </a:solidFill>
                <a:latin typeface="PingFang SC" panose="020B0400000000000000" charset="-122"/>
              </a:rPr>
              <a:t>而是用 AI 重构交付流程本身</a:t>
            </a:r>
            <a:endParaRPr sz="4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8484A"/>
                </a:solidFill>
                <a:latin typeface="SF Pro Display"/>
              </a:rPr>
              <a:t>Thank You</a:t>
            </a:r>
            <a:endParaRPr sz="2000" b="0">
              <a:solidFill>
                <a:srgbClr val="48484A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3073</Words>
  <Application>WPS 演示</Application>
  <PresentationFormat>On-screen Show (4:3)</PresentationFormat>
  <Paragraphs>409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</vt:lpstr>
      <vt:lpstr>SF Pro Display</vt:lpstr>
      <vt:lpstr>Thonburi</vt:lpstr>
      <vt:lpstr>PingFang SC</vt:lpstr>
      <vt:lpstr>SF Mono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SF Mono</vt:lpstr>
      <vt:lpstr>SF Pro Display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赵琪</cp:lastModifiedBy>
  <cp:revision>2</cp:revision>
  <dcterms:created xsi:type="dcterms:W3CDTF">2026-02-19T01:06:39Z</dcterms:created>
  <dcterms:modified xsi:type="dcterms:W3CDTF">2026-02-19T01:06:39Z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F933B161705F5BE21F629669D50974A1_42</vt:lpwstr>
  </property>
  <property fmtid="{D5CDD505-2E9C-101B-9397-08002B2CF9AE}" pid="3" name="KSOProductBuildVer">
    <vt:lpwstr>2052-12.1.23135.23135</vt:lpwstr>
  </property>
</Properties>
</file>