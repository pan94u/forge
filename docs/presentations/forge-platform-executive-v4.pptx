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20"/>
    <p:sldId id="271" r:id="rId21"/>
    <p:sldId id="272" r:id="rId22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4566" y="2121400"/>
            <a:ext cx="921648" cy="19749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97894" y="1858072"/>
            <a:ext cx="394992" cy="30721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22342" y="1748352"/>
            <a:ext cx="746096" cy="15360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68438" y="1792240"/>
            <a:ext cx="241384" cy="8777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018586" y="1528912"/>
            <a:ext cx="153608" cy="153608"/>
          </a:xfrm>
          <a:prstGeom prst="diamond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97894" y="1616688"/>
            <a:ext cx="54860" cy="54860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14830" y="1594744"/>
            <a:ext cx="43888" cy="43888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07614" y="1441136"/>
            <a:ext cx="32916" cy="32916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48998" y="1463080"/>
            <a:ext cx="32916" cy="32916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9260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5F5F7"/>
                </a:solidFill>
                <a:latin typeface="SF Pro Display"/>
              </a:rPr>
              <a:t>FORGE</a:t>
            </a:r>
            <a:endParaRPr sz="52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0" y="38404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6868B"/>
                </a:solidFill>
                <a:latin typeface="PingFang SC" panose="020B0400000000000000" charset="-122"/>
              </a:rPr>
              <a:t>面向 AI 时代的智能交付平台</a:t>
            </a:r>
            <a:endParaRPr sz="22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03520" y="4663440"/>
            <a:ext cx="155448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9377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8484A"/>
                </a:solidFill>
                <a:latin typeface="SF Pro Display"/>
              </a:rPr>
              <a:t>2026.02</a:t>
            </a:r>
            <a:endParaRPr sz="1500" b="0">
              <a:solidFill>
                <a:srgbClr val="48484A"/>
              </a:solidFill>
              <a:latin typeface="SF Pro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800"/>
              </a:lnSpc>
            </a:pPr>
            <a:r>
              <a:rPr sz="5200" b="1">
                <a:solidFill>
                  <a:srgbClr val="F5F5F7"/>
                </a:solidFill>
                <a:latin typeface="PingFang SC" panose="020B0400000000000000" charset="-122"/>
              </a:rPr>
              <a:t>当 1 个人 + AI
拥有 7 人团队的交付能力</a:t>
            </a:r>
            <a:endParaRPr sz="52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我们面对的现实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97280" y="1874520"/>
            <a:ext cx="36576" cy="77724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7"/>
                </a:solidFill>
                <a:latin typeface="PingFang SC" panose="020B0400000000000000" charset="-122"/>
              </a:rPr>
              <a:t>5-7 人的 Scrum 团队</a:t>
            </a:r>
            <a:endParaRPr sz="22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6304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每个角色一个人，知识在人脑里，人走知识就没了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7280" y="3017520"/>
            <a:ext cx="36576" cy="77724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971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7"/>
                </a:solidFill>
                <a:latin typeface="PingFang SC" panose="020B0400000000000000" charset="-122"/>
              </a:rPr>
              <a:t>AI 只是"更快的打字员"</a:t>
            </a:r>
            <a:endParaRPr sz="22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3429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给每个人配一个 AI 助手，不等于交付效率的质变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97280" y="4160520"/>
            <a:ext cx="36576" cy="77724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114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7"/>
                </a:solidFill>
                <a:latin typeface="PingFang SC" panose="020B0400000000000000" charset="-122"/>
              </a:rPr>
              <a:t>跨栈迁移是黑洞</a:t>
            </a:r>
            <a:endParaRPr sz="22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304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没人懂旧技术栈，人工迁移动辄数十人月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97280" y="5303520"/>
            <a:ext cx="36576" cy="77724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257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7"/>
                </a:solidFill>
                <a:latin typeface="PingFang SC" panose="020B0400000000000000" charset="-122"/>
              </a:rPr>
              <a:t>经验不沉淀，错误在重复</a:t>
            </a:r>
            <a:endParaRPr sz="22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304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同样的部署失败、同样的安全漏洞，每个项目重来一遍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997FF"/>
                </a:solidFill>
                <a:latin typeface="PingFang SC" panose="020B0400000000000000" charset="-122"/>
              </a:rPr>
              <a:t>问题的本质不是工具不够，是交付流程本身没有被重构。</a:t>
            </a:r>
            <a:endParaRPr sz="1800" b="0">
              <a:solidFill>
                <a:srgbClr val="2997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三个关键洞察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352044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788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sz="2400" b="1">
                <a:solidFill>
                  <a:srgbClr val="F5F5F7"/>
                </a:solidFill>
                <a:latin typeface="PingFang SC" panose="020B0400000000000000" charset="-122"/>
              </a:rPr>
              <a:t>SuperAgent
不是 Multi-Agent</a:t>
            </a:r>
            <a:endParaRPr sz="24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>
                <a:solidFill>
                  <a:srgbClr val="86868B"/>
                </a:solidFill>
                <a:latin typeface="PingFang SC" panose="020B0400000000000000" charset="-122"/>
              </a:rPr>
              <a:t>不是 5 个角色各配一个 AI。
而是 1 个超级智能体，
通过 Skill Profile 动态切换。</a:t>
            </a:r>
            <a:endParaRPr sz="15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 panose="020B0400000000000000" charset="-122"/>
              </a:rPr>
              <a:t>1 个智能体 &gt; 5 个独立 Agent</a:t>
            </a:r>
            <a:endParaRPr sz="13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26280" y="173736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737360"/>
            <a:ext cx="352044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194560"/>
            <a:ext cx="2788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sz="2400" b="1">
                <a:solidFill>
                  <a:srgbClr val="F5F5F7"/>
                </a:solidFill>
                <a:latin typeface="PingFang SC" panose="020B0400000000000000" charset="-122"/>
              </a:rPr>
              <a:t>Skill 是
真正的护城河</a:t>
            </a:r>
            <a:endParaRPr sz="24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92040" y="338328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>
                <a:solidFill>
                  <a:srgbClr val="86868B"/>
                </a:solidFill>
                <a:latin typeface="PingFang SC" panose="020B0400000000000000" charset="-122"/>
              </a:rPr>
              <a:t>模型会被追平，Prompt 会被抄走。
但编码了十年经验的 Skill 体系，
无法复制。</a:t>
            </a:r>
            <a:endParaRPr sz="15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92040" y="5303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 panose="020B0400000000000000" charset="-122"/>
              </a:rPr>
              <a:t>25+ Skills = 经验的数字化资产</a:t>
            </a:r>
            <a:endParaRPr sz="13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321040" y="1737360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737360"/>
            <a:ext cx="352044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194560"/>
            <a:ext cx="2788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sz="2400" b="1">
                <a:solidFill>
                  <a:srgbClr val="F5F5F7"/>
                </a:solidFill>
                <a:latin typeface="PingFang SC" panose="020B0400000000000000" charset="-122"/>
              </a:rPr>
              <a:t>双环驱动
越用越好</a:t>
            </a:r>
            <a:endParaRPr sz="24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0" y="3383280"/>
            <a:ext cx="2788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>
                <a:solidFill>
                  <a:srgbClr val="86868B"/>
                </a:solidFill>
                <a:latin typeface="PingFang SC" panose="020B0400000000000000" charset="-122"/>
              </a:rPr>
              <a:t>交付环做事，进化环学习。
每次交付产生知识沉淀，
反哺下一次交付。</a:t>
            </a:r>
            <a:endParaRPr sz="15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0" y="5303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 panose="020B0400000000000000" charset="-122"/>
              </a:rPr>
              <a:t>交付 × 进化 = 飞轮效应</a:t>
            </a:r>
            <a:endParaRPr sz="13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一个智能体，五种角色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根据任务自动切换 Skill Profile，覆盖从需求到运维的完整交付链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F5F7"/>
                </a:solidFill>
                <a:latin typeface="PingFang SC" panose="020B0400000000000000" charset="-122"/>
              </a:rPr>
              <a:t>规划</a:t>
            </a:r>
            <a:endParaRPr sz="26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8484A"/>
                </a:solidFill>
                <a:latin typeface="SF Mono"/>
              </a:rPr>
              <a:t>Planning</a:t>
            </a:r>
            <a:endParaRPr sz="12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需求分析
PRD 编写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52928" y="201168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52928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F5F7"/>
                </a:solidFill>
                <a:latin typeface="PingFang SC" panose="020B0400000000000000" charset="-122"/>
              </a:rPr>
              <a:t>设计</a:t>
            </a:r>
            <a:endParaRPr sz="26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81528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8484A"/>
                </a:solidFill>
                <a:latin typeface="SF Mono"/>
              </a:rPr>
              <a:t>Design</a:t>
            </a:r>
            <a:endParaRPr sz="12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81528" y="33832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架构设计
API 设计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157216" y="201168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57216" y="2011680"/>
            <a:ext cx="210312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5816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F5F7"/>
                </a:solidFill>
                <a:latin typeface="PingFang SC" panose="020B0400000000000000" charset="-122"/>
              </a:rPr>
              <a:t>开发</a:t>
            </a:r>
            <a:endParaRPr sz="26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85816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8484A"/>
                </a:solidFill>
                <a:latin typeface="SF Mono"/>
              </a:rPr>
              <a:t>Development</a:t>
            </a:r>
            <a:endParaRPr sz="12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85816" y="33832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代码生成
13 Foundation Skills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61504" y="201168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61504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0104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F5F7"/>
                </a:solidFill>
                <a:latin typeface="PingFang SC" panose="020B0400000000000000" charset="-122"/>
              </a:rPr>
              <a:t>测试</a:t>
            </a:r>
            <a:endParaRPr sz="26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90104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8484A"/>
                </a:solidFill>
                <a:latin typeface="SF Mono"/>
              </a:rPr>
              <a:t>Testing</a:t>
            </a:r>
            <a:endParaRPr sz="12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90104" y="33832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用例设计
自动化执行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765792" y="201168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65792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94392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F5F7"/>
                </a:solidFill>
                <a:latin typeface="PingFang SC" panose="020B0400000000000000" charset="-122"/>
              </a:rPr>
              <a:t>运维</a:t>
            </a:r>
            <a:endParaRPr sz="26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94392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8484A"/>
                </a:solidFill>
                <a:latin typeface="SF Mono"/>
              </a:rPr>
              <a:t>Ops</a:t>
            </a:r>
            <a:endParaRPr sz="12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994392" y="33832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部署策略
K8s 编排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31520" y="521208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84A"/>
                </a:solidFill>
                <a:latin typeface="SF Pro Display"/>
              </a:rPr>
              <a:t>OODA 循环</a:t>
            </a:r>
            <a:endParaRPr sz="12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440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F5F7"/>
                </a:solidFill>
                <a:latin typeface="PingFang SC" panose="020B0400000000000000" charset="-122"/>
              </a:rPr>
              <a:t>Observe  观察</a:t>
            </a:r>
            <a:endParaRPr sz="1500" b="0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5176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8484A"/>
                </a:solidFill>
                <a:latin typeface="SF Pro Display"/>
              </a:rPr>
              <a:t>→</a:t>
            </a:r>
            <a:endParaRPr sz="16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6324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F5F7"/>
                </a:solidFill>
                <a:latin typeface="PingFang SC" panose="020B0400000000000000" charset="-122"/>
              </a:rPr>
              <a:t>Orient  分析</a:t>
            </a:r>
            <a:endParaRPr sz="1500" b="0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0060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8484A"/>
                </a:solidFill>
                <a:latin typeface="SF Pro Display"/>
              </a:rPr>
              <a:t>→</a:t>
            </a:r>
            <a:endParaRPr sz="16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21208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F5F7"/>
                </a:solidFill>
                <a:latin typeface="PingFang SC" panose="020B0400000000000000" charset="-122"/>
              </a:rPr>
              <a:t>Decide  决策</a:t>
            </a:r>
            <a:endParaRPr sz="1500" b="0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4944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8484A"/>
                </a:solidFill>
                <a:latin typeface="SF Pro Display"/>
              </a:rPr>
              <a:t>→</a:t>
            </a:r>
            <a:endParaRPr sz="16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6092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F5F7"/>
                </a:solidFill>
                <a:latin typeface="PingFang SC" panose="020B0400000000000000" charset="-122"/>
              </a:rPr>
              <a:t>Act  执行</a:t>
            </a:r>
            <a:endParaRPr sz="1500" b="0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9828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8484A"/>
                </a:solidFill>
                <a:latin typeface="SF Pro Display"/>
              </a:rPr>
              <a:t>→</a:t>
            </a:r>
            <a:endParaRPr sz="16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509760" y="5623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997FF"/>
                </a:solidFill>
                <a:latin typeface="PingFang SC" panose="020B0400000000000000" charset="-122"/>
              </a:rPr>
              <a:t>HITL  人在回路</a:t>
            </a:r>
            <a:endParaRPr sz="1500" b="0">
              <a:solidFill>
                <a:srgbClr val="2997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四层解耦，独立演进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每一层可以独立升级，不影响其他层 — 这是平台能活过模型迭代的根本原因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45720" cy="109728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8484A"/>
                </a:solidFill>
                <a:latin typeface="SF Pro Display"/>
              </a:rPr>
              <a:t>L1</a:t>
            </a:r>
            <a:endParaRPr sz="1400" b="1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3736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PingFang SC" panose="020B0400000000000000" charset="-122"/>
              </a:rPr>
              <a:t>用户交互层</a:t>
            </a:r>
            <a:endParaRPr sz="2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3192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84A"/>
                </a:solidFill>
                <a:latin typeface="SF Mono"/>
              </a:rPr>
              <a:t>User Interaction</a:t>
            </a:r>
            <a:endParaRPr sz="11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7360" y="2103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CLI / VS Code (开发者) + Web IDE (全角色)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7360" y="2377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84A"/>
                </a:solidFill>
                <a:latin typeface="PingFang SC" panose="020B0400000000000000" charset="-122"/>
              </a:rPr>
              <a:t>Monaco 编辑器  ·  AI Chat  ·  知识浏览  ·  可视化工作流</a:t>
            </a:r>
            <a:endParaRPr sz="12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0" y="269748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SF Pro Display"/>
              </a:rPr>
              <a:t>↓</a:t>
            </a:r>
            <a:endParaRPr sz="14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45720" cy="1097280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9718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997FF"/>
                </a:solidFill>
                <a:latin typeface="SF Pro Display"/>
              </a:rPr>
              <a:t>L2</a:t>
            </a:r>
            <a:endParaRPr sz="1400" b="1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373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PingFang SC" panose="020B0400000000000000" charset="-122"/>
              </a:rPr>
              <a:t>SuperAgent 层</a:t>
            </a:r>
            <a:endParaRPr sz="2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3192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84A"/>
                </a:solidFill>
                <a:latin typeface="SF Mono"/>
              </a:rPr>
              <a:t>Intelligence</a:t>
            </a:r>
            <a:endParaRPr sz="11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37360" y="3337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97FF"/>
                </a:solidFill>
                <a:latin typeface="PingFang SC" panose="020B0400000000000000" charset="-122"/>
              </a:rPr>
              <a:t>5 Profiles × 25+ Skills × 8 Baselines</a:t>
            </a:r>
            <a:endParaRPr sz="1400" b="0">
              <a:solidFill>
                <a:srgbClr val="2997FF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37360" y="3611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84A"/>
                </a:solidFill>
                <a:latin typeface="PingFang SC" panose="020B0400000000000000" charset="-122"/>
              </a:rPr>
              <a:t>Skill Profile Router  ·  Baseline Runner  ·  Skill Market ↔ Capability Market (MCP)</a:t>
            </a:r>
            <a:endParaRPr sz="12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0" y="393192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SF Pro Display"/>
              </a:rPr>
              <a:t>↓</a:t>
            </a:r>
            <a:endParaRPr sz="14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1520" y="406908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069080"/>
            <a:ext cx="45720" cy="109728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2062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8484A"/>
                </a:solidFill>
                <a:latin typeface="SF Pro Display"/>
              </a:rPr>
              <a:t>L3</a:t>
            </a:r>
            <a:endParaRPr sz="1400" b="1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3736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PingFang SC" panose="020B0400000000000000" charset="-122"/>
              </a:rPr>
              <a:t>Agent Runtime 层</a:t>
            </a:r>
            <a:endParaRPr sz="2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3192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84A"/>
                </a:solidFill>
                <a:latin typeface="SF Mono"/>
              </a:rPr>
              <a:t>Runtime</a:t>
            </a:r>
            <a:endParaRPr sz="11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737360" y="4572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MCP 协议  ·  Tool Calling  ·  沙箱  ·  可观测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7360" y="4846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84A"/>
                </a:solidFill>
                <a:latin typeface="PingFang SC" panose="020B0400000000000000" charset="-122"/>
              </a:rPr>
              <a:t>9 聚合工具  ·  安全围栏  ·  SuperAgent 评估框架</a:t>
            </a:r>
            <a:endParaRPr sz="12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69280" y="51663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SF Pro Display"/>
              </a:rPr>
              <a:t>↓</a:t>
            </a:r>
            <a:endParaRPr sz="14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31520" y="530352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303520"/>
            <a:ext cx="45720" cy="109728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4406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8484A"/>
                </a:solidFill>
                <a:latin typeface="SF Pro Display"/>
              </a:rPr>
              <a:t>L4</a:t>
            </a:r>
            <a:endParaRPr sz="1400" b="1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3736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PingFang SC" panose="020B0400000000000000" charset="-122"/>
              </a:rPr>
              <a:t>数据与模型层</a:t>
            </a:r>
            <a:endParaRPr sz="2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93192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84A"/>
                </a:solidFill>
                <a:latin typeface="SF Mono"/>
              </a:rPr>
              <a:t>Data &amp; Model</a:t>
            </a:r>
            <a:endParaRPr sz="1100" b="0">
              <a:solidFill>
                <a:srgbClr val="48484A"/>
              </a:solidFill>
              <a:latin typeface="SF Mono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737360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公域模型 (Claude)  +  私域数据 (知识库 12+)  +  垂域模型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737360" y="6080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84A"/>
                </a:solidFill>
                <a:latin typeface="PingFang SC" panose="020B0400000000000000" charset="-122"/>
              </a:rPr>
              <a:t>MCP Gateway → Knowledge / Database / ServiceGraph / Artifact / Observability</a:t>
            </a:r>
            <a:endParaRPr sz="12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9728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997FF"/>
                </a:solidFill>
                <a:latin typeface="PingFang SC" panose="020B0400000000000000" charset="-122"/>
              </a:rPr>
              <a:t>模型从 Opus 换成 GPT?  换 L3 的 Adapter。Skills 和 Baselines 一行不改。</a:t>
            </a:r>
            <a:endParaRPr sz="1400" b="0">
              <a:solidFill>
                <a:srgbClr val="2997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稳态固化 · 敏态抽象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模型一定会被追平，能力编码为 Skill 才是真正的护城河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3891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438912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997FF"/>
                </a:solidFill>
                <a:latin typeface="PingFang SC" panose="020B0400000000000000" charset="-122"/>
              </a:rPr>
              <a:t>稳态 — 核心资产</a:t>
            </a:r>
            <a:endParaRPr sz="2000" b="1">
              <a:solidFill>
                <a:srgbClr val="2997FF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 panose="020B0400000000000000" charset="-122"/>
              </a:rPr>
              <a:t>越积越厚，无法复制</a:t>
            </a:r>
            <a:endParaRPr sz="13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SF Pro Display"/>
              </a:rPr>
              <a:t>25+ Skills</a:t>
            </a:r>
            <a:endParaRPr sz="17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91840" y="2852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十年工程经验的数字化编码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34198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SF Pro Display"/>
              </a:rPr>
              <a:t>8 Baselines</a:t>
            </a:r>
            <a:endParaRPr sz="17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91840" y="34381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质量底线自动守护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4005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SF Pro Display"/>
              </a:rPr>
              <a:t>5 Profiles</a:t>
            </a:r>
            <a:endParaRPr sz="17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9184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全交付角色覆盖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0" y="45902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SF Pro Display"/>
              </a:rPr>
              <a:t>12+ Knowledge</a:t>
            </a:r>
            <a:endParaRPr sz="17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91840" y="46085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私域知识持续沉淀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71600" y="5175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SF Pro Display"/>
              </a:rPr>
              <a:t>OODA 流程</a:t>
            </a:r>
            <a:endParaRPr sz="17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91840" y="5193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标准化决策环路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62905" y="2926080"/>
            <a:ext cx="1005840" cy="1828800"/>
          </a:xfrm>
          <a:prstGeom prst="roundRect">
            <a:avLst>
              <a:gd name="adj" fmla="val 4000"/>
            </a:avLst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87975" y="3127375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SF Pro Display"/>
              </a:rPr>
              <a:t>A</a:t>
            </a:r>
            <a:endParaRPr sz="1400" b="1">
              <a:solidFill>
                <a:srgbClr val="000000"/>
              </a:solidFill>
              <a:latin typeface="SF Pro Display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d</a:t>
            </a:r>
            <a:endParaRPr sz="1400" b="1">
              <a:solidFill>
                <a:srgbClr val="000000"/>
              </a:solidFill>
              <a:latin typeface="SF Pro Display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a</a:t>
            </a:r>
            <a:endParaRPr sz="1400" b="1">
              <a:solidFill>
                <a:srgbClr val="000000"/>
              </a:solidFill>
              <a:latin typeface="SF Pro Display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p</a:t>
            </a:r>
            <a:endParaRPr sz="1400" b="1">
              <a:solidFill>
                <a:srgbClr val="000000"/>
              </a:solidFill>
              <a:latin typeface="SF Pro Display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t</a:t>
            </a:r>
            <a:endParaRPr sz="1400" b="1">
              <a:solidFill>
                <a:srgbClr val="000000"/>
              </a:solidFill>
              <a:latin typeface="SF Pro Display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e</a:t>
            </a:r>
            <a:endParaRPr sz="1400" b="1">
              <a:solidFill>
                <a:srgbClr val="000000"/>
              </a:solidFill>
              <a:latin typeface="SF Pro Display"/>
            </a:endParaRP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SF Pro Display"/>
              </a:rPr>
              <a:t>r</a:t>
            </a:r>
            <a:endParaRPr sz="1400" b="1">
              <a:solidFill>
                <a:srgbClr val="000000"/>
              </a:solidFill>
              <a:latin typeface="SF Pro Display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2064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997FF"/>
                </a:solidFill>
                <a:latin typeface="SF Pro Display"/>
              </a:rPr>
              <a:t>→</a:t>
            </a:r>
            <a:endParaRPr sz="1800" b="0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936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8484A"/>
                </a:solidFill>
                <a:latin typeface="SF Pro Display"/>
              </a:rPr>
              <a:t>→</a:t>
            </a:r>
            <a:endParaRPr sz="18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040880" y="1645920"/>
            <a:ext cx="4389120" cy="43891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1645920"/>
            <a:ext cx="4389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6868B"/>
                </a:solidFill>
                <a:latin typeface="PingFang SC" panose="020B0400000000000000" charset="-122"/>
              </a:rPr>
              <a:t>敏态 — 可替换组件</a:t>
            </a:r>
            <a:endParaRPr sz="2000" b="1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0664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 panose="020B0400000000000000" charset="-122"/>
              </a:rPr>
              <a:t>技术迭代时只换这里</a:t>
            </a:r>
            <a:endParaRPr sz="13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8952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SF Mono"/>
              </a:rPr>
              <a:t>ModelAdapter</a:t>
            </a:r>
            <a:endParaRPr sz="1600" b="1">
              <a:solidFill>
                <a:srgbClr val="F5F5F7"/>
              </a:solidFill>
              <a:latin typeface="SF Mon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89520" y="3154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 panose="020B0400000000000000" charset="-122"/>
              </a:rPr>
              <a:t>Claude → GPT → Local</a:t>
            </a:r>
            <a:endParaRPr sz="13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8952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SF Mono"/>
              </a:rPr>
              <a:t>RuntimeAdapter</a:t>
            </a:r>
            <a:endParaRPr sz="1600" b="1">
              <a:solidFill>
                <a:srgbClr val="F5F5F7"/>
              </a:solidFill>
              <a:latin typeface="SF Mon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89520" y="3886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 panose="020B0400000000000000" charset="-122"/>
              </a:rPr>
              <a:t>Claude Code → ForgeNative</a:t>
            </a:r>
            <a:endParaRPr sz="13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8952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7"/>
                </a:solidFill>
                <a:latin typeface="SF Mono"/>
              </a:rPr>
              <a:t>AssetFormatAdapter</a:t>
            </a:r>
            <a:endParaRPr sz="1600" b="1">
              <a:solidFill>
                <a:srgbClr val="F5F5F7"/>
              </a:solidFill>
              <a:latin typeface="SF Mono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89520" y="4617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PingFang SC" panose="020B0400000000000000" charset="-122"/>
              </a:rPr>
              <a:t>SKILL.md v1 → v2 → ...</a:t>
            </a:r>
            <a:endParaRPr sz="13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1520" y="5486400"/>
            <a:ext cx="10698480" cy="488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0">
                <a:solidFill>
                  <a:schemeClr val="bg1"/>
                </a:solidFill>
                <a:latin typeface="SF Mono"/>
              </a:rPr>
              <a:t>ModelAdapter.kt  ·  RuntimeAdapter.kt  ·  AssetFormatAdapter.kt</a:t>
            </a:r>
            <a:endParaRPr sz="1200" b="0">
              <a:solidFill>
                <a:schemeClr val="bg1"/>
              </a:solidFill>
              <a:latin typeface="SF Mono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31520" y="56692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669280"/>
            <a:ext cx="45720" cy="777240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806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997FF"/>
                </a:solidFill>
                <a:latin typeface="PingFang SC" panose="020B0400000000000000" charset="-122"/>
              </a:rPr>
              <a:t>战略意义</a:t>
            </a:r>
            <a:endParaRPr sz="1300" b="1">
              <a:solidFill>
                <a:srgbClr val="2997FF"/>
              </a:solidFill>
              <a:latin typeface="PingFang SC" panose="020B0400000000000000" charset="-122"/>
            </a:endParaRPr>
          </a:p>
          <a:p>
            <a:pPr algn="l">
              <a:lnSpc>
                <a:spcPts val="2200"/>
              </a:lnSpc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OpenAI 发布更好的模型？换一个 Adapter。Claude Code 被替代？切换 ForgeNativeRuntime。
但 25 个 Skill 编码的十年工程经验，竞争对手无法复制。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AI 不再只是聊天，而是交付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8484A"/>
                </a:solidFill>
                <a:latin typeface="SF Pro Display"/>
              </a:rPr>
              <a:t>Before</a:t>
            </a:r>
            <a:endParaRPr sz="1800" b="1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  AI 在聊天窗口展示代码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  用户手动复制粘贴到文件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  用户手动创建和管理文件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  知识搜索返回 mock 数据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  没有认证，没有权限控制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  AI 不了解项目结构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0" y="32918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997FF"/>
                </a:solidFill>
                <a:latin typeface="SF Pro Display"/>
              </a:rPr>
              <a:t>→</a:t>
            </a:r>
            <a:endParaRPr sz="3600" b="1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394960" cy="43891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39496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997FF"/>
                </a:solidFill>
                <a:latin typeface="SF Pro Display"/>
              </a:rPr>
              <a:t>After — Forge</a:t>
            </a:r>
            <a:endParaRPr sz="1800" b="1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 panose="020B0400000000000000" charset="-122"/>
              </a:rPr>
              <a:t>  AI 直接写文件到 workspace</a:t>
            </a:r>
            <a:endParaRPr sz="1600" b="0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workspace_write / read / list</a:t>
            </a:r>
            <a:endParaRPr sz="1100" b="0">
              <a:solidFill>
                <a:srgbClr val="48484A"/>
              </a:solidFill>
              <a:latin typeface="SF Mono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 panose="020B0400000000000000" charset="-122"/>
              </a:rPr>
              <a:t>  文件树自动刷新，编辑器自动打开</a:t>
            </a:r>
            <a:endParaRPr sz="1600" b="0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SSE file_changed 事件驱动</a:t>
            </a:r>
            <a:endParaRPr sz="1100" b="0">
              <a:solidFill>
                <a:srgbClr val="48484A"/>
              </a:solidFill>
              <a:latin typeface="SF Mono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 panose="020B0400000000000000" charset="-122"/>
              </a:rPr>
              <a:t>  AI 主动了解项目结构再动手</a:t>
            </a:r>
            <a:endParaRPr sz="1600" b="0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workspace_list_files</a:t>
            </a:r>
            <a:endParaRPr sz="1100" b="0">
              <a:solidFill>
                <a:srgbClr val="48484A"/>
              </a:solidFill>
              <a:latin typeface="SF Mono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 panose="020B0400000000000000" charset="-122"/>
              </a:rPr>
              <a:t>  知识搜索返回真实文档</a:t>
            </a:r>
            <a:endParaRPr sz="1600" b="0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12+ 知识库文档实连</a:t>
            </a:r>
            <a:endParaRPr sz="1100" b="0">
              <a:solidFill>
                <a:srgbClr val="48484A"/>
              </a:solidFill>
              <a:latin typeface="SF Mono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 panose="020B0400000000000000" charset="-122"/>
              </a:rPr>
              <a:t>  Keycloak SSO 企业级认证</a:t>
            </a:r>
            <a:endParaRPr sz="1600" b="0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OIDC PKCE + 4 容器部署</a:t>
            </a:r>
            <a:endParaRPr sz="1100" b="0">
              <a:solidFill>
                <a:srgbClr val="48484A"/>
              </a:solidFill>
              <a:latin typeface="SF Mono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F5F5F7"/>
                </a:solidFill>
                <a:latin typeface="PingFang SC" panose="020B0400000000000000" charset="-122"/>
              </a:rPr>
              <a:t>  代码块一键 Apply + 5 秒自动保存</a:t>
            </a:r>
            <a:endParaRPr sz="1600" b="0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8484A"/>
                </a:solidFill>
                <a:latin typeface="SF Mono"/>
              </a:rPr>
              <a:t>     零摩擦交付体验</a:t>
            </a:r>
            <a:endParaRPr sz="1100" b="0">
              <a:solidFill>
                <a:srgbClr val="48484A"/>
              </a:solidFill>
              <a:latin typeface="SF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我们走到了哪里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Phase 0 → 1 → 1.5 → 1.6  完成  |  18 Sessions  ·  5 天  ·  92% 验收通过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3585" y="2336165"/>
            <a:ext cx="265176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5F5F7"/>
                </a:solidFill>
                <a:latin typeface="SF Pro Display"/>
              </a:rPr>
              <a:t>50,000+</a:t>
            </a:r>
            <a:endParaRPr sz="44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行代码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11880" y="2124075"/>
            <a:ext cx="265176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5F5F7"/>
                </a:solidFill>
                <a:latin typeface="SF Pro Display"/>
              </a:rPr>
              <a:t>325+</a:t>
            </a:r>
            <a:r>
              <a:rPr sz="6400" b="1">
                <a:solidFill>
                  <a:srgbClr val="F5F5F7"/>
                </a:solidFill>
                <a:latin typeface="SF Pro Display"/>
              </a:rPr>
              <a:t>+</a:t>
            </a:r>
            <a:endParaRPr sz="64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1188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文件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5F5F7"/>
                </a:solidFill>
                <a:latin typeface="SF Pro Display"/>
              </a:rPr>
              <a:t>147</a:t>
            </a:r>
            <a:endParaRPr sz="64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测试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72600" y="21945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5F5F7"/>
                </a:solidFill>
                <a:latin typeface="SF Pro Display"/>
              </a:rPr>
              <a:t>87</a:t>
            </a:r>
            <a:endParaRPr sz="64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72600" y="3383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验收用例 92%通过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2997FF"/>
                </a:solidFill>
                <a:latin typeface="SF Pro Display"/>
              </a:rPr>
              <a:t>9</a:t>
            </a:r>
            <a:endParaRPr sz="5600" b="1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MCP 工具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11880" y="411480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5F5F7"/>
                </a:solidFill>
                <a:latin typeface="SF Pro Display"/>
              </a:rPr>
              <a:t>5</a:t>
            </a:r>
            <a:endParaRPr sz="56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11880" y="5120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Skill Profile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5F5F7"/>
                </a:solidFill>
                <a:latin typeface="SF Pro Display"/>
              </a:rPr>
              <a:t>13</a:t>
            </a:r>
            <a:endParaRPr sz="56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5120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Foundation Skill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72600" y="411480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5F5F7"/>
                </a:solidFill>
                <a:latin typeface="SF Pro Display"/>
              </a:rPr>
              <a:t>4</a:t>
            </a:r>
            <a:endParaRPr sz="56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372600" y="5120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Docker 容器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97280" y="3931920"/>
            <a:ext cx="9966960" cy="9144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PingFang SC" panose="020B0400000000000000" charset="-122"/>
              </a:rPr>
              <a:t>docker compose up → SSO → AI 对话 → 写文件 → 刷新 | 147 测试全过 · 20 Bug 修 19 个</a:t>
            </a:r>
            <a:endParaRPr sz="14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跨栈迁移：10 倍提效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"没人懂旧技术栈"的困局，AI 可以系统性地解决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103120" cy="27432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SF Pro Display"/>
              </a:rPr>
              <a:t>01</a:t>
            </a:r>
            <a:endParaRPr sz="13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 panose="020B0400000000000000" charset="-122"/>
              </a:rPr>
              <a:t>AI 代码考古</a:t>
            </a:r>
            <a:endParaRPr sz="17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解析项目结构
生成项目说明书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23160" y="2743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8484A"/>
                </a:solidFill>
                <a:latin typeface="SF Pro Display"/>
              </a:rPr>
              <a:t>→</a:t>
            </a:r>
            <a:endParaRPr sz="18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61488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1488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SF Pro Display"/>
              </a:rPr>
              <a:t>02</a:t>
            </a:r>
            <a:endParaRPr sz="13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44368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 panose="020B0400000000000000" charset="-122"/>
              </a:rPr>
              <a:t>业务规则提取</a:t>
            </a:r>
            <a:endParaRPr sz="17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44368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逐模块分析
规则 + 边界条件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27448" y="2743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8484A"/>
                </a:solidFill>
                <a:latin typeface="SF Pro Display"/>
              </a:rPr>
              <a:t>→</a:t>
            </a:r>
            <a:endParaRPr sz="18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65776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65776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SF Pro Display"/>
              </a:rPr>
              <a:t>03</a:t>
            </a:r>
            <a:endParaRPr sz="13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48656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 panose="020B0400000000000000" charset="-122"/>
              </a:rPr>
              <a:t>架构设计</a:t>
            </a:r>
            <a:endParaRPr sz="17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48656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.NET → Java 映射
依赖拓扑排列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31736" y="2743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8484A"/>
                </a:solidFill>
                <a:latin typeface="SF Pro Display"/>
              </a:rPr>
              <a:t>→</a:t>
            </a:r>
            <a:endParaRPr sz="18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70064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70064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SF Pro Display"/>
              </a:rPr>
              <a:t>04</a:t>
            </a:r>
            <a:endParaRPr sz="13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52944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 panose="020B0400000000000000" charset="-122"/>
              </a:rPr>
              <a:t>逐模块迁移</a:t>
            </a:r>
            <a:endParaRPr sz="17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52944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SuperAgent 编写
规范自动遵循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36024" y="2743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8484A"/>
                </a:solidFill>
                <a:latin typeface="SF Pro Display"/>
              </a:rPr>
              <a:t>→</a:t>
            </a:r>
            <a:endParaRPr sz="18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674352" y="2011680"/>
            <a:ext cx="2103120" cy="23774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74352" y="2011680"/>
            <a:ext cx="2103120" cy="27432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57232" y="2240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8484A"/>
                </a:solidFill>
                <a:latin typeface="SF Pro Display"/>
              </a:rPr>
              <a:t>05</a:t>
            </a:r>
            <a:endParaRPr sz="13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57232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7"/>
                </a:solidFill>
                <a:latin typeface="PingFang SC" panose="020B0400000000000000" charset="-122"/>
              </a:rPr>
              <a:t>行为等价验证</a:t>
            </a:r>
            <a:endParaRPr sz="17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57232" y="31089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86868B"/>
                </a:solidFill>
                <a:latin typeface="PingFang SC" panose="020B0400000000000000" charset="-122"/>
              </a:rPr>
              <a:t>API 契约对比
规则覆盖度检查</a:t>
            </a:r>
            <a:endParaRPr sz="13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97280" y="4754880"/>
            <a:ext cx="9966960" cy="9144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PingFang SC" panose="020B0400000000000000" charset="-122"/>
              </a:rPr>
              <a:t>传统方式</a:t>
            </a:r>
            <a:endParaRPr sz="14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71600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86868B"/>
                </a:solidFill>
                <a:latin typeface="SF Pro Display"/>
              </a:rPr>
              <a:t>50-65 人天</a:t>
            </a:r>
            <a:endParaRPr sz="3200" b="1">
              <a:solidFill>
                <a:srgbClr val="86868B"/>
              </a:solidFill>
              <a:latin typeface="SF Pro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72000" y="5303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48484A"/>
                </a:solidFill>
                <a:latin typeface="SF Pro Display"/>
              </a:rPr>
              <a:t>→</a:t>
            </a:r>
            <a:endParaRPr sz="2800" b="0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6928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PingFang SC" panose="020B0400000000000000" charset="-122"/>
              </a:rPr>
              <a:t>Forge 辅助</a:t>
            </a:r>
            <a:endParaRPr sz="14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69280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997FF"/>
                </a:solidFill>
                <a:latin typeface="SF Pro Display"/>
              </a:rPr>
              <a:t>5-7 人天</a:t>
            </a:r>
            <a:endParaRPr sz="3200" b="1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961120" y="51206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997FF"/>
                </a:solidFill>
                <a:latin typeface="SF Pro Display"/>
              </a:rPr>
              <a:t>10x</a:t>
            </a:r>
            <a:endParaRPr sz="4800" b="1">
              <a:solidFill>
                <a:srgbClr val="2997FF"/>
              </a:solidFill>
              <a:latin typeface="SF Pro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速度不缺，缺的是安全网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8484A"/>
                </a:solidFill>
                <a:latin typeface="PingFang SC" panose="020B0400000000000000" charset="-122"/>
              </a:rPr>
              <a:t>首次部署成功率</a:t>
            </a:r>
            <a:endParaRPr sz="1400" b="0">
              <a:solidFill>
                <a:srgbClr val="48484A"/>
              </a:solidFill>
              <a:latin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5F5F7"/>
                </a:solidFill>
                <a:latin typeface="SF Pro Display"/>
              </a:rPr>
              <a:t>7.7%</a:t>
            </a:r>
            <a:endParaRPr sz="7200" b="1">
              <a:solidFill>
                <a:srgbClr val="F5F5F7"/>
              </a:solidFill>
              <a:latin typeface="SF Pro Display"/>
            </a:endParaRP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13 次尝试，90 分钟，10 个计划外问题。CORS 通配符直接进入 commit，无人察觉。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7280" y="3657600"/>
            <a:ext cx="9966960" cy="9144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7"/>
                </a:solidFill>
                <a:latin typeface="PingFang SC" panose="020B0400000000000000" charset="-122"/>
              </a:rPr>
              <a:t>系统性解决</a:t>
            </a:r>
            <a:endParaRPr sz="2000" b="1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痛点不修补，而是编码为平台能力。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8 道质量底线自动拦截，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86868B"/>
                </a:solidFill>
                <a:latin typeface="PingFang SC" panose="020B0400000000000000" charset="-122"/>
              </a:rPr>
              <a:t>让未来的开发者无感地获得保护。</a:t>
            </a:r>
            <a:endParaRPr sz="16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0" y="39319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8484A"/>
                </a:solidFill>
                <a:latin typeface="PingFang SC" panose="020B0400000000000000" charset="-122"/>
              </a:rPr>
              <a:t>目标成功率</a:t>
            </a:r>
            <a:endParaRPr sz="1400" b="0">
              <a:solidFill>
                <a:srgbClr val="48484A"/>
              </a:solidFill>
              <a:latin typeface="PingFang SC" panose="020B0400000000000000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600" b="1">
                <a:solidFill>
                  <a:srgbClr val="2997FF"/>
                </a:solidFill>
                <a:latin typeface="SF Pro Display"/>
              </a:rPr>
              <a:t>≥ 90%</a:t>
            </a:r>
            <a:endParaRPr sz="5600" b="1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484A"/>
                </a:solidFill>
                <a:latin typeface="PingFang SC" panose="020B0400000000000000" charset="-122"/>
              </a:rPr>
              <a:t>已验证的设计不可隐式退化  ·  开发者痛点即平台能力</a:t>
            </a:r>
            <a:endParaRPr sz="14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从工具到平台到生态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997FF"/>
                </a:solidFill>
                <a:latin typeface="SF Pro Display"/>
              </a:rPr>
              <a:t>已完成</a:t>
            </a:r>
            <a:endParaRPr sz="1400" b="1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520440" cy="18288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 panose="020B0400000000000000" charset="-122"/>
              </a:rPr>
              <a:t>Phase 0</a:t>
            </a:r>
            <a:endParaRPr sz="1500" b="1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骨架搭建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 panose="020B0400000000000000" charset="-122"/>
              </a:rPr>
              <a:t>Phase 1</a:t>
            </a:r>
            <a:endParaRPr sz="1500" b="1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Web IDE 实连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 panose="020B0400000000000000" charset="-122"/>
              </a:rPr>
              <a:t>Phase 1.5</a:t>
            </a:r>
            <a:endParaRPr sz="1500" b="1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设计守护 + Docker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500" b="1">
                <a:solidFill>
                  <a:srgbClr val="F5F5F7"/>
                </a:solidFill>
                <a:latin typeface="PingFang SC" panose="020B0400000000000000" charset="-122"/>
              </a:rPr>
              <a:t>Phase 1.6</a:t>
            </a:r>
            <a:endParaRPr sz="1500" b="1">
              <a:solidFill>
                <a:srgbClr val="F5F5F7"/>
              </a:solidFill>
              <a:latin typeface="PingFang SC" panose="020B0400000000000000" charset="-122"/>
            </a:endParaR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86868B"/>
                </a:solidFill>
                <a:latin typeface="PingFang SC" panose="020B0400000000000000" charset="-122"/>
              </a:rPr>
              <a:t>AI 交付闭环 + SSO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7"/>
                </a:solidFill>
                <a:latin typeface="SF Pro Display"/>
              </a:rPr>
              <a:t>下一步</a:t>
            </a:r>
            <a:endParaRPr sz="1400" b="1">
              <a:solidFill>
                <a:srgbClr val="F5F5F7"/>
              </a:solidFill>
              <a:latin typeface="SF Pro Display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26280" y="2103120"/>
            <a:ext cx="3520440" cy="182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22860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56032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5F5F7"/>
                </a:solidFill>
                <a:latin typeface="PingFang SC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F5F5F7"/>
                </a:solidFill>
                <a:latin typeface="PingFang SC"/>
              </a:rPr>
              <a:t>Phase 2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6868B"/>
                </a:solidFill>
                <a:latin typeface="PingFang SC"/>
              </a:rPr>
              <a:t>Sprint 2.1 质量基础设施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6868B"/>
                </a:solidFill>
                <a:latin typeface="PingFang SC"/>
              </a:rPr>
              <a:t>Sprint 2.2 OODA + MCP 真实服务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6868B"/>
                </a:solidFill>
                <a:latin typeface="PingFang SC"/>
              </a:rPr>
              <a:t>Sprint 2.3 内部试用 3-5 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6459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484A"/>
                </a:solidFill>
                <a:latin typeface="SF Pro Display"/>
              </a:rPr>
              <a:t>远景</a:t>
            </a:r>
            <a:endParaRPr sz="1400" b="1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21040" y="2103120"/>
            <a:ext cx="352044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22860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56032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F5F5F7"/>
                </a:solidFill>
                <a:latin typeface="PingFang SC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F5F5F7"/>
                </a:solidFill>
                <a:latin typeface="PingFang SC"/>
              </a:rPr>
              <a:t>Phase 3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6868B"/>
                </a:solidFill>
                <a:latin typeface="PingFang SC"/>
              </a:rPr>
              <a:t>方法论平台化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86868B"/>
                </a:solidFill>
                <a:latin typeface="SF Mono"/>
              </a:rPr>
              <a:t>ForgeNativeRuntime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6868B"/>
                </a:solidFill>
                <a:latin typeface="PingFang SC"/>
              </a:rPr>
              <a:t>进化环闭合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F5F5F7"/>
                </a:solidFill>
                <a:latin typeface="PingFang SC"/>
              </a:rPr>
              <a:t>Phase 4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6868B"/>
                </a:solidFill>
                <a:latin typeface="PingFang SC"/>
              </a:rPr>
              <a:t>全面上线 + 飞轮效应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6868B"/>
                </a:solidFill>
                <a:latin typeface="PingFang SC"/>
              </a:rPr>
              <a:t>Skill 生态开放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8484A"/>
                </a:solidFill>
                <a:latin typeface="PingFang SC" panose="020B0400000000000000" charset="-122"/>
              </a:rPr>
              <a:t>终局：方法论自动化 · 1 人 + SuperAgent 全自主交付 · Skill 生态开放 · 知识持续进化</a:t>
            </a:r>
            <a:endParaRPr sz="15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7"/>
                </a:solidFill>
                <a:latin typeface="PingFang SC" panose="020B0400000000000000" charset="-122"/>
              </a:rPr>
              <a:t>我们需要什么</a:t>
            </a:r>
            <a:endParaRPr sz="40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10698480" cy="128016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45720" cy="1280160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997FF"/>
                </a:solidFill>
                <a:latin typeface="SF Pro Display"/>
              </a:rPr>
              <a:t>01</a:t>
            </a:r>
            <a:endParaRPr sz="2800" b="1">
              <a:solidFill>
                <a:srgbClr val="2997FF"/>
              </a:solidFill>
              <a:latin typeface="SF Pro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20240" y="1874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5F7"/>
                </a:solidFill>
                <a:latin typeface="PingFang SC" panose="020B0400000000000000" charset="-122"/>
              </a:rPr>
              <a:t>API 资源 + 计算环境</a:t>
            </a:r>
            <a:endParaRPr sz="24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20240" y="2331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/>
              </a:rPr>
              <a:t>Claude API Key + GPU/云资源，支撑 3-5 人内部试用。
92% 验收已就绪，真实用户验证是下一个里程碑。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98480" cy="128016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45720" cy="128016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8484A"/>
                </a:solidFill>
                <a:latin typeface="SF Pro Display"/>
              </a:rPr>
              <a:t>02</a:t>
            </a:r>
            <a:endParaRPr sz="2800" b="1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20240" y="3429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5F7"/>
                </a:solidFill>
                <a:latin typeface="PingFang SC" panose="020B0400000000000000" charset="-122"/>
              </a:rPr>
              <a:t>1 个跨栈迁移试点</a:t>
            </a:r>
            <a:endParaRPr sz="24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20240" y="3886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/>
              </a:rPr>
              <a:t>选一个 .NET → Java 模块，验证 10x 效率提升假设。
最直接的 ROI 证明：50 人天 → 5 人天，可量化汇报。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698480" cy="128016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45720" cy="128016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074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8484A"/>
                </a:solidFill>
                <a:latin typeface="SF Pro Display"/>
              </a:rPr>
              <a:t>03</a:t>
            </a:r>
            <a:endParaRPr sz="2800" b="1">
              <a:solidFill>
                <a:srgbClr val="48484A"/>
              </a:solidFill>
              <a:latin typeface="SF Pro Display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20240" y="4983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5F7"/>
                </a:solidFill>
                <a:latin typeface="PingFang SC" panose="020B0400000000000000" charset="-122"/>
              </a:rPr>
              <a:t>3 个月 + 2 人投入</a:t>
            </a:r>
            <a:endParaRPr sz="24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0240" y="5440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86868B"/>
                </a:solidFill>
                <a:latin typeface="PingFang SC"/>
              </a:rPr>
              <a:t>Phase 2 完成质量基础设施 + 智能增强 + 内部试用。
目标：从 "能用" 升级到 "可信赖"，为规模推广做好准备。</a:t>
            </a:r>
            <a:endParaRPr sz="1400" b="0">
              <a:solidFill>
                <a:srgbClr val="86868B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88160" y="1719070"/>
            <a:ext cx="614460" cy="13167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63720" y="1543510"/>
            <a:ext cx="263340" cy="2048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46680" y="1470360"/>
            <a:ext cx="497420" cy="10241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44100" y="1499620"/>
            <a:ext cx="160930" cy="585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044185" y="1324060"/>
            <a:ext cx="102410" cy="102410"/>
          </a:xfrm>
          <a:prstGeom prst="diamond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63720" y="1382580"/>
            <a:ext cx="36575" cy="36575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41690" y="1367950"/>
            <a:ext cx="29260" cy="29260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6870" y="1265540"/>
            <a:ext cx="21945" cy="21945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197800" y="1280170"/>
            <a:ext cx="21945" cy="21945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48484A"/>
                </a:solidFill>
                <a:latin typeface="PingFang SC" panose="020B0400000000000000" charset="-122"/>
              </a:rPr>
              <a:t>不是给每个人配一个 AI 助手</a:t>
            </a:r>
            <a:endParaRPr sz="2800" b="0">
              <a:solidFill>
                <a:srgbClr val="48484A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5F5F7"/>
                </a:solidFill>
                <a:latin typeface="PingFang SC" panose="020B0400000000000000" charset="-122"/>
              </a:rPr>
              <a:t>而是用 AI 重构交付流程本身</a:t>
            </a:r>
            <a:endParaRPr sz="4200" b="1">
              <a:solidFill>
                <a:srgbClr val="F5F5F7"/>
              </a:solidFill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03520" y="4663440"/>
            <a:ext cx="155448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8484A"/>
                </a:solidFill>
                <a:latin typeface="SF Pro Display"/>
              </a:rPr>
              <a:t>Thank You</a:t>
            </a:r>
            <a:endParaRPr sz="2000" b="0">
              <a:solidFill>
                <a:srgbClr val="48484A"/>
              </a:solidFill>
              <a:latin typeface="SF Pro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5F5F7"/>
                </a:solidFill>
                <a:latin typeface="PingFang SC"/>
              </a:rPr>
              <a:t>已验证的交付方法论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SC"/>
              </a:rPr>
              <a:t>18 个 Session 实战提炼，4.4/5.0 评分 — 不只是产品，更是一套可复制的 AI 协同工作法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997FF"/>
                </a:solidFill>
                <a:latin typeface="PingFang SC"/>
              </a:rPr>
              <a:t>用文档对抗 AI 遗忘，用验收测试对抗质量腐化，用双基线对抗设计偏移。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468880" cy="2743200"/>
          </a:xfrm>
          <a:prstGeom prst="roundRect">
            <a:avLst>
              <a:gd name="adj" fmla="val 2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2468880" cy="18288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5F7"/>
                </a:solidFill>
                <a:latin typeface="PingFang SC"/>
              </a:rPr>
              <a:t>时间维度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997FF"/>
                </a:solidFill>
                <a:latin typeface="SF Pro Display"/>
              </a:rPr>
              <a:t>Logbook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6868B"/>
                </a:solidFill>
                <a:latin typeface="PingFang SC"/>
              </a:rPr>
              <a:t>过去发生了什么？
为什么这样做？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2103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5F7"/>
                </a:solidFill>
                <a:latin typeface="PingFang SC"/>
              </a:rPr>
              <a:t>18 Session
2720 行记录
零中断交接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560320"/>
            <a:ext cx="2468880" cy="2743200"/>
          </a:xfrm>
          <a:prstGeom prst="roundRect">
            <a:avLst>
              <a:gd name="adj" fmla="val 2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560320"/>
            <a:ext cx="2468880" cy="182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7432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5F7"/>
                </a:solidFill>
                <a:latin typeface="PingFang SC"/>
              </a:rPr>
              <a:t>空间维度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6324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5F7"/>
                </a:solidFill>
                <a:latin typeface="SF Pro Display"/>
              </a:rPr>
              <a:t>双基线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38328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6868B"/>
                </a:solidFill>
                <a:latin typeface="PingFang SC"/>
              </a:rPr>
              <a:t>系统全貌
设计 vs 实现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206240"/>
            <a:ext cx="2103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5F7"/>
                </a:solidFill>
                <a:latin typeface="PingFang SC"/>
              </a:rPr>
              <a:t>规划基线 v1.5
设计基线 v5.1
5 次交叉校验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560320"/>
            <a:ext cx="2468880" cy="2743200"/>
          </a:xfrm>
          <a:prstGeom prst="roundRect">
            <a:avLst>
              <a:gd name="adj" fmla="val 2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560320"/>
            <a:ext cx="2468880" cy="18288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7432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5F7"/>
                </a:solidFill>
                <a:latin typeface="PingFang SC"/>
              </a:rPr>
              <a:t>质量维度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6324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0D158"/>
                </a:solidFill>
                <a:latin typeface="SF Pro Display"/>
              </a:rPr>
              <a:t>验收测试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38328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6868B"/>
                </a:solidFill>
                <a:latin typeface="PingFang SC"/>
              </a:rPr>
              <a:t>什么能工作？
什么不能？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206240"/>
            <a:ext cx="2103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5F7"/>
                </a:solidFill>
                <a:latin typeface="PingFang SC"/>
              </a:rPr>
              <a:t>87 用例 92% 通过
20 Bug 闭环追踪
95% 修复率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2560320"/>
            <a:ext cx="2468880" cy="2743200"/>
          </a:xfrm>
          <a:prstGeom prst="roundRect">
            <a:avLst>
              <a:gd name="adj" fmla="val 2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0" y="2560320"/>
            <a:ext cx="2468880" cy="182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27432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5F7"/>
                </a:solidFill>
                <a:latin typeface="PingFang SC"/>
              </a:rPr>
              <a:t>知识维度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06324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5F7"/>
                </a:solidFill>
                <a:latin typeface="SF Pro Display"/>
              </a:rPr>
              <a:t>CLAUDE.md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38328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6868B"/>
                </a:solidFill>
                <a:latin typeface="PingFang SC"/>
              </a:rPr>
              <a:t>我们学到了什么？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206240"/>
            <a:ext cx="2103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5F7"/>
                </a:solidFill>
                <a:latin typeface="PingFang SC"/>
              </a:rPr>
              <a:t>228 行编码经验
四大开发纪律
7 个已知陷阱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8484A"/>
                </a:solidFill>
                <a:latin typeface="PingFang SC"/>
              </a:rPr>
              <a:t>Claude Code 上下文窗口有限，项目复杂度无限增长 — 外部记忆系统是必需品，不是可选项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5F5F7"/>
                </a:solidFill>
                <a:latin typeface="PingFang SC"/>
              </a:rPr>
              <a:t>方法论即产品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SC"/>
              </a:rPr>
              <a:t>手动验证有效的方法论 → 编码为平台自动能力 → 用户无感获得保障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200400" cy="3474720"/>
          </a:xfrm>
          <a:prstGeom prst="roundRect">
            <a:avLst>
              <a:gd name="adj" fmla="val 2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200400" cy="18288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997FF"/>
                </a:solidFill>
                <a:latin typeface="SF Pro Display"/>
              </a:rPr>
              <a:t>Phase 0-2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5F5F7"/>
                </a:solidFill>
                <a:latin typeface="PingFang SC"/>
              </a:rPr>
              <a:t>手动验证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Logbook 手动记录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→ 验证：18 Session 零中断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双基线手动维护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→ 验证：5 次交叉校验全有效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验收测试手动执行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→ 验证：92% 通过率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经验手动编码到 CLAUDE.md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→ 验证：228 行持续进化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1828800"/>
            <a:ext cx="3200400" cy="3474720"/>
          </a:xfrm>
          <a:prstGeom prst="roundRect">
            <a:avLst>
              <a:gd name="adj" fmla="val 2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3360" y="1828800"/>
            <a:ext cx="3200400" cy="182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01168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5F7"/>
                </a:solidFill>
                <a:latin typeface="SF Pro Display"/>
              </a:rP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28600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5F5F7"/>
                </a:solidFill>
                <a:latin typeface="PingFang SC"/>
              </a:rPr>
              <a:t>自动平台化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83464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execution-logger 自动记录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10896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替代手动 Logbook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429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design-baseline-tracker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70332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替代手动双基线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02336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CI baseline + Playwright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29768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替代手动验收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61772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skill-feedback-analyzer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89204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替代手动经验编码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0" y="1828800"/>
            <a:ext cx="3200400" cy="3474720"/>
          </a:xfrm>
          <a:prstGeom prst="roundRect">
            <a:avLst>
              <a:gd name="adj" fmla="val 2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80" y="1828800"/>
            <a:ext cx="3200400" cy="18288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201168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0D158"/>
                </a:solidFill>
                <a:latin typeface="SF Pro Display"/>
              </a:rPr>
              <a:t>Phase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28600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5F5F7"/>
                </a:solidFill>
                <a:latin typeface="PingFang SC"/>
              </a:rPr>
              <a:t>飞轮效应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283464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交付自动产生知识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10896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知识反哺下一次交付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4290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Skill 越用越准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70332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底线越守越严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402336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新团队零学习成本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29768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使用即获得全部保障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61772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可量化持续进化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89204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每月 Skill 质量 ↑ 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27432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48484A"/>
                </a:solidFill>
                <a:latin typeface="SF Pro Display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27432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48484A"/>
                </a:solidFill>
                <a:latin typeface="SF Pro Display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8484A"/>
                </a:solidFill>
                <a:latin typeface="PingFang SC"/>
              </a:rPr>
              <a:t>核心壁垒：不是模型能力（会被追平），不是 Prompt（会被抄走），而是经验证的方法论 + 编码为 Skill 的十年工程经验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5F5F7"/>
                </a:solidFill>
                <a:latin typeface="PingFang SC"/>
              </a:rPr>
              <a:t>Phase 2 — 三阶段冲刺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SC"/>
              </a:rPr>
              <a:t>质量基础设施 → 智能增强 → 真人验证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200400" cy="4114800"/>
          </a:xfrm>
          <a:prstGeom prst="roundRect">
            <a:avLst>
              <a:gd name="adj" fmla="val 2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200400" cy="18288"/>
          </a:xfrm>
          <a:prstGeom prst="rect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997FF"/>
                </a:solidFill>
                <a:latin typeface="SF Pro Display"/>
              </a:rPr>
              <a:t>Sprint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5F7"/>
                </a:solidFill>
                <a:latin typeface="PingFang SC"/>
              </a:rPr>
              <a:t>让系统可信赖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283464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GitHub Actions 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46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构建+测试+底线自动运行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78892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997FF"/>
                </a:solidFill>
                <a:latin typeface="SF Mono"/>
              </a:rP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147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Playwright E2E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20+ 核心场景自动化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6042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997FF"/>
                </a:solidFill>
                <a:latin typeface="SF Mono"/>
              </a:rP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底线脚本 CI 集成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376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8 道质量关卡接入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93192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997FF"/>
                </a:solidFill>
                <a:latin typeface="SF Mono"/>
              </a:rP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577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BUG-016 修复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Agentic loop 兜底输出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50342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484A"/>
                </a:solidFill>
                <a:latin typeface="SF Mono"/>
              </a:rPr>
              <a:t>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Cmd+K 命令面板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806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键盘快捷操作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07492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484A"/>
                </a:solidFill>
                <a:latin typeface="SF Mono"/>
              </a:rPr>
              <a:t>P2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1737360"/>
            <a:ext cx="3200400" cy="4114800"/>
          </a:xfrm>
          <a:prstGeom prst="roundRect">
            <a:avLst>
              <a:gd name="adj" fmla="val 2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23360" y="1737360"/>
            <a:ext cx="3200400" cy="1828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187452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5F5F7"/>
                </a:solidFill>
                <a:latin typeface="SF Pro Display"/>
              </a:rPr>
              <a:t>Sprint 2.2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2148840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5F7"/>
                </a:solidFill>
                <a:latin typeface="PingFang SC"/>
              </a:rPr>
              <a:t>让智能更真实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2651760"/>
            <a:ext cx="283464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27432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Skill 条件触发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9946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frontmatter trigger 动态加载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78892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997FF"/>
                </a:solidFill>
                <a:latin typeface="SF Mono"/>
              </a:rPr>
              <a:t>P0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33147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knowledge-mcp 真实服务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5661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独立 Ktor HTTP 容器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36042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997FF"/>
                </a:solidFill>
                <a:latin typeface="SF Mono"/>
              </a:rPr>
              <a:t>P0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38862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database-mcp 真实服务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41376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对接 H2/PostgreSQL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93192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484A"/>
                </a:solidFill>
                <a:latin typeface="SF Mono"/>
              </a:rPr>
              <a:t>P1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44577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底线自动检查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47091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Act 后自动运行+自动修复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50342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484A"/>
                </a:solidFill>
                <a:latin typeface="SF Mono"/>
              </a:rPr>
              <a:t>P1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50292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Docker 4→6 容器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52806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MCP Server 独立部署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507492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484A"/>
                </a:solidFill>
                <a:latin typeface="SF Mono"/>
              </a:rPr>
              <a:t>P1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80" y="1737360"/>
            <a:ext cx="3200400" cy="4114800"/>
          </a:xfrm>
          <a:prstGeom prst="roundRect">
            <a:avLst>
              <a:gd name="adj" fmla="val 2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98080" y="1737360"/>
            <a:ext cx="3200400" cy="18288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0" y="187452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0D158"/>
                </a:solidFill>
                <a:latin typeface="SF Pro Display"/>
              </a:rPr>
              <a:t>Sprint 2.3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2148840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5F7"/>
                </a:solidFill>
                <a:latin typeface="PingFang SC"/>
              </a:rPr>
              <a:t>让真人用起来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2651760"/>
            <a:ext cx="283464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0" y="27432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3-5 人内部试用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29946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≥ 3 天真实使用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278892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997FF"/>
                </a:solidFill>
                <a:latin typeface="SF Mono"/>
              </a:rPr>
              <a:t>P0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33147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试用准备文档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0" y="35661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用户手册+环境指南+FAQ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0" y="336042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997FF"/>
                </a:solidFill>
                <a:latin typeface="SF Mono"/>
              </a:rPr>
              <a:t>P0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8862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结构化反馈收集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0" y="41376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6 维评分+开放问题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0" y="393192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484A"/>
                </a:solidFill>
                <a:latin typeface="SF Mono"/>
              </a:rPr>
              <a:t>P1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0960" y="44577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Top 问题修复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47091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3-5 个最高优先级问题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9840" y="450342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997FF"/>
                </a:solidFill>
                <a:latin typeface="SF Mono"/>
              </a:rPr>
              <a:t>P0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50292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5F7"/>
                </a:solidFill>
                <a:latin typeface="PingFang SC"/>
              </a:rPr>
              <a:t>验收测试更新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528066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6868B"/>
                </a:solidFill>
                <a:latin typeface="PingFang SC"/>
              </a:rPr>
              <a:t>基于真实反馈扩展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49840" y="507492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8484A"/>
                </a:solidFill>
                <a:latin typeface="SF Mono"/>
              </a:rPr>
              <a:t>P1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8484A"/>
                </a:solidFill>
                <a:latin typeface="PingFang SC"/>
              </a:rPr>
              <a:t>Phase 2 验收标准：CI 自动化 · Playwright ≥20 · 2 个真实 MCP Server · ≥3 人试用 · Bug ≤1 个挂起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3073</Words>
  <Application>WPS 演示</Application>
  <PresentationFormat>On-screen Show (4:3)</PresentationFormat>
  <Paragraphs>409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宋体</vt:lpstr>
      <vt:lpstr>Wingdings</vt:lpstr>
      <vt:lpstr>Arial</vt:lpstr>
      <vt:lpstr>SF Pro Display</vt:lpstr>
      <vt:lpstr>Thonburi</vt:lpstr>
      <vt:lpstr>PingFang SC</vt:lpstr>
      <vt:lpstr>SF Mono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SF Mono</vt:lpstr>
      <vt:lpstr>SF Pro Display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赵琪</cp:lastModifiedBy>
  <cp:revision>2</cp:revision>
  <dcterms:created xsi:type="dcterms:W3CDTF">2026-02-19T01:06:39Z</dcterms:created>
  <dcterms:modified xsi:type="dcterms:W3CDTF">2026-02-19T01:06:39Z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F933B161705F5BE21F629669D50974A1_42</vt:lpwstr>
  </property>
  <property fmtid="{D5CDD505-2E9C-101B-9397-08002B2CF9AE}" pid="3" name="KSOProductBuildVer">
    <vt:lpwstr>2052-12.1.23135.23135</vt:lpwstr>
  </property>
</Properties>
</file>