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Forge 智能交付平台</a:t>
            </a:r>
          </a:p>
          <a:p>
            <a:pPr algn="ctr">
              <a:spcBef>
                <a:spcPts val="1200"/>
              </a:spcBef>
              <a:spcAft>
                <a:spcPts val="400"/>
              </a:spcAft>
            </a:pPr>
            <a:r>
              <a:rPr sz="2400" b="0">
                <a:solidFill>
                  <a:srgbClr val="BBBBBB"/>
                </a:solidFill>
                <a:latin typeface="Microsoft YaHei"/>
              </a:rPr>
              <a:t>面向 AI 时代的全生命周期交付系统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840480"/>
            <a:ext cx="57607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规划基线 v1.4  |  2026-02-19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B48A"/>
                </a:solidFill>
                <a:latin typeface="Microsoft YaHei"/>
              </a:rPr>
              <a:t>320+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999999"/>
                </a:solidFill>
                <a:latin typeface="Microsoft YaHei"/>
              </a:rPr>
              <a:t>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493776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B48A"/>
                </a:solidFill>
                <a:latin typeface="Microsoft YaHei"/>
              </a:rPr>
              <a:t>45,000+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999999"/>
                </a:solidFill>
                <a:latin typeface="Microsoft YaHei"/>
              </a:rPr>
              <a:t>行代码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493776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B48A"/>
                </a:solidFill>
                <a:latin typeface="Microsoft YaHei"/>
              </a:rPr>
              <a:t>130+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999999"/>
                </a:solidFill>
                <a:latin typeface="Microsoft YaHei"/>
              </a:rPr>
              <a:t>测试用例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493776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B48A"/>
                </a:solidFill>
                <a:latin typeface="Microsoft YaHei"/>
              </a:rPr>
              <a:t>9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999999"/>
                </a:solidFill>
                <a:latin typeface="Microsoft YaHei"/>
              </a:rPr>
              <a:t>MCP 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493776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B48A"/>
                </a:solidFill>
                <a:latin typeface="Microsoft YaHei"/>
              </a:rPr>
              <a:t>4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999999"/>
                </a:solidFill>
                <a:latin typeface="Microsoft YaHei"/>
              </a:rPr>
              <a:t>容器部署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平台目标与定位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508760"/>
            <a:ext cx="502920" cy="5029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0"/>
            <a:ext cx="9144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D2D2D"/>
                </a:solidFill>
                <a:latin typeface="Microsoft YaHei"/>
              </a:rPr>
              <a:t>交付提效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SuperAgent + Skill 体系，5-7 人团队 → 1-2 人 + AI 协同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73152" cy="77724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514600"/>
            <a:ext cx="502920" cy="50292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77440"/>
            <a:ext cx="9144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D2D2D"/>
                </a:solidFill>
                <a:latin typeface="Microsoft YaHei"/>
              </a:rPr>
              <a:t>知识沉淀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隐性知识编码为可复用的 Skill 和结构化数据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73152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52044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83280"/>
            <a:ext cx="9144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D2D2D"/>
                </a:solidFill>
                <a:latin typeface="Microsoft YaHei"/>
              </a:rPr>
              <a:t>持续进化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交付环 + 进化环双环机制，平台在使用中自动变好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73152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52628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389120"/>
            <a:ext cx="9144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D2D2D"/>
                </a:solidFill>
                <a:latin typeface="Microsoft YaHei"/>
              </a:rPr>
              <a:t>全员可用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CLI/IDE（开发者）+ Web IDE（产品团队）统一入口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73152" cy="777240"/>
          </a:xfrm>
          <a:prstGeom prst="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532120"/>
            <a:ext cx="502920" cy="502920"/>
          </a:xfrm>
          <a:prstGeom prst="ellipse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394960"/>
            <a:ext cx="9144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D2D2D"/>
                </a:solidFill>
                <a:latin typeface="Microsoft YaHei"/>
              </a:rPr>
              <a:t>跨栈迁移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AI 知识抢救 + 跨语言翻译，10-13x 人天提效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188720"/>
            <a:ext cx="3200400" cy="5029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371600"/>
            <a:ext cx="28346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7ACC"/>
                </a:solidFill>
                <a:latin typeface="Microsoft YaHei"/>
              </a:rPr>
              <a:t>核心判断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2D2D2D"/>
                </a:solidFill>
                <a:latin typeface="Microsoft YaHei"/>
              </a:rPr>
              <a:t>• Skill 是核心竞争力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2D2D2D"/>
                </a:solidFill>
                <a:latin typeface="Microsoft YaHei"/>
              </a:rPr>
              <a:t>• Code is the universal interface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2D2D2D"/>
                </a:solidFill>
                <a:latin typeface="Microsoft YaHei"/>
              </a:rPr>
              <a:t>• 双环 &gt; 单环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2D2D2D"/>
                </a:solidFill>
                <a:latin typeface="Microsoft YaHei"/>
              </a:rPr>
              <a:t>• Runtime 无关是长期战略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2D2D2D"/>
                </a:solidFill>
                <a:latin typeface="Microsoft YaHei"/>
              </a:rPr>
              <a:t>• 质量底线 &gt; 开发速度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双环架构 + SuperAgent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CC"/>
                </a:solidFill>
                <a:latin typeface="Microsoft YaHei"/>
              </a:rPr>
              <a:t>环 1：交付环 (Delivery Loop)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2D2D2D"/>
                </a:solidFill>
                <a:latin typeface="Microsoft YaHei"/>
              </a:rPr>
              <a:t>人类指定 WHAT（声明式意图）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2D2D2D"/>
                </a:solidFill>
                <a:latin typeface="Microsoft YaHei"/>
              </a:rPr>
              <a:t>SuperAgent 解决 HOW（命令式执行）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2D2D2D"/>
                </a:solidFill>
                <a:latin typeface="Microsoft YaHei"/>
              </a:rPr>
              <a:t>HITL 人在关键节点审批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007ACC"/>
                </a:solidFill>
                <a:latin typeface="Microsoft YaHei"/>
              </a:rPr>
              <a:t>规划 → 设计 → 开发 → 测试 → 运维 → 运营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53035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49377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B48A"/>
                </a:solidFill>
                <a:latin typeface="Microsoft YaHei"/>
              </a:rPr>
              <a:t>环 2：进化环 (Learning Loop)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2D2D2D"/>
                </a:solidFill>
                <a:latin typeface="Microsoft YaHei"/>
              </a:rPr>
              <a:t>每次交付 → 生产数据 → 资产提取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2D2D2D"/>
                </a:solidFill>
                <a:latin typeface="Microsoft YaHei"/>
              </a:rPr>
              <a:t>私域知识沉淀 → 反哺 SuperAgent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2D2D2D"/>
                </a:solidFill>
                <a:latin typeface="Microsoft YaHei"/>
              </a:rPr>
              <a:t>知识库自然增长 / Skill 自动优化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FF8C00"/>
                </a:solidFill>
                <a:latin typeface="Microsoft YaHei"/>
              </a:rPr>
              <a:t>⏳ Phase 3 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  <a:latin typeface="Microsoft YaHei"/>
              </a:rPr>
              <a:t>SuperAgent（唯一实例）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2D2D2D"/>
                </a:solidFill>
                <a:latin typeface="Microsoft YaHei"/>
              </a:rPr>
              <a:t>Skill Profile Router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根据交付阶段 / 用户指定 / AI 自主判断切换 Profile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2D2D2D"/>
                </a:solidFill>
                <a:latin typeface="Microsoft YaHei"/>
              </a:rPr>
              <a:t>✅ 规划 Profile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2D2D2D"/>
                </a:solidFill>
                <a:latin typeface="Microsoft YaHei"/>
              </a:rPr>
              <a:t>✅ 设计 Profile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2D2D2D"/>
                </a:solidFill>
                <a:latin typeface="Microsoft YaHei"/>
              </a:rPr>
              <a:t>✅ 开发 Profile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2D2D2D"/>
                </a:solidFill>
                <a:latin typeface="Microsoft YaHei"/>
              </a:rPr>
              <a:t>✅ 测试 Profile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2D2D2D"/>
                </a:solidFill>
                <a:latin typeface="Microsoft YaHei"/>
              </a:rPr>
              <a:t>✅ 运维 Profile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2D2D2D"/>
                </a:solidFill>
                <a:latin typeface="Microsoft YaHei"/>
              </a:rPr>
              <a:t>OODA 内循环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007ACC"/>
                </a:solidFill>
                <a:latin typeface="Microsoft YaHei"/>
              </a:rPr>
              <a:t>Observe → Orient → Decide → Act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底线 ✅ → HITL 审批  |  底线 ❌ → 自动修复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演进路线与当前进度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5486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810512"/>
            <a:ext cx="365760" cy="36576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8A"/>
                </a:solidFill>
                <a:latin typeface="Microsoft YaHei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基础骨架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4630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91840"/>
            <a:ext cx="1316736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icrosoft YaHei"/>
              </a:rPr>
              <a:t>244 文件 / 38K 行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2D2D"/>
                </a:solidFill>
                <a:latin typeface="Microsoft YaHei"/>
              </a:rPr>
              <a:t>Gradle monorepo + 插件 + MCP + CLI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1810512"/>
            <a:ext cx="365760" cy="36576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286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8A"/>
                </a:solidFill>
                <a:latin typeface="Microsoft YaHe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651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Web IDE 实连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3200400"/>
            <a:ext cx="14630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2" y="3291840"/>
            <a:ext cx="1316736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icrosoft YaHei"/>
              </a:rPr>
              <a:t>真流式 + Agentic Loop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2D2D"/>
                </a:solidFill>
                <a:latin typeface="Microsoft YaHei"/>
              </a:rPr>
              <a:t>37 测试 + 跨栈画像</a:t>
            </a:r>
          </a:p>
        </p:txBody>
      </p:sp>
      <p:sp>
        <p:nvSpPr>
          <p:cNvPr id="15" name="Oval 14"/>
          <p:cNvSpPr/>
          <p:nvPr/>
        </p:nvSpPr>
        <p:spPr>
          <a:xfrm>
            <a:off x="4160520" y="1810512"/>
            <a:ext cx="365760" cy="36576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286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8A"/>
                </a:solidFill>
                <a:latin typeface="Microsoft YaHei"/>
              </a:rPr>
              <a:t>Phase 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651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设计守护 + Docker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3200400"/>
            <a:ext cx="14630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2" y="3291840"/>
            <a:ext cx="1316736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icrosoft YaHei"/>
              </a:rPr>
              <a:t>3 容器部署 + E2E 验证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2D2D"/>
                </a:solidFill>
                <a:latin typeface="Microsoft YaHei"/>
              </a:rPr>
              <a:t>设计基线冻结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1810512"/>
            <a:ext cx="365760" cy="36576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286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8A"/>
                </a:solidFill>
                <a:latin typeface="Microsoft YaHei"/>
              </a:rPr>
              <a:t>Phase 1.6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651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AI 交付闭环 + SSO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3200400"/>
            <a:ext cx="14630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3291840"/>
            <a:ext cx="1316736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icrosoft YaHei"/>
              </a:rPr>
              <a:t>9 工具 / 4 容器 / 130 测试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2D2D"/>
                </a:solidFill>
                <a:latin typeface="Microsoft YaHei"/>
              </a:rPr>
              <a:t>Keycloak SSO + CRUD + 自动保存</a:t>
            </a:r>
          </a:p>
        </p:txBody>
      </p:sp>
      <p:sp>
        <p:nvSpPr>
          <p:cNvPr id="25" name="Oval 24"/>
          <p:cNvSpPr/>
          <p:nvPr/>
        </p:nvSpPr>
        <p:spPr>
          <a:xfrm>
            <a:off x="7360920" y="1810512"/>
            <a:ext cx="365760" cy="3657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286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8C00"/>
                </a:solidFill>
                <a:latin typeface="Microsoft YaHei"/>
              </a:rP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651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单环运转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200400"/>
            <a:ext cx="14630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3291840"/>
            <a:ext cx="1316736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icrosoft YaHei"/>
              </a:rPr>
              <a:t>OODA 引擎 + SkillLoader 增强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2D2D"/>
                </a:solidFill>
                <a:latin typeface="Microsoft YaHei"/>
              </a:rPr>
              <a:t>底线 CI + 用户试用</a:t>
            </a:r>
          </a:p>
        </p:txBody>
      </p:sp>
      <p:sp>
        <p:nvSpPr>
          <p:cNvPr id="30" name="Oval 29"/>
          <p:cNvSpPr/>
          <p:nvPr/>
        </p:nvSpPr>
        <p:spPr>
          <a:xfrm>
            <a:off x="8961120" y="1810512"/>
            <a:ext cx="365760" cy="36576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286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Microsoft YaHei"/>
              </a:rP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651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双环闭合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3200400"/>
            <a:ext cx="14630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3291840"/>
            <a:ext cx="1316736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icrosoft YaHei"/>
              </a:rPr>
              <a:t>ForgeNativeRuntime 完整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2D2D"/>
                </a:solidFill>
                <a:latin typeface="Microsoft YaHei"/>
              </a:rPr>
              <a:t>进化环 + RuntimeAdapter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1810512"/>
            <a:ext cx="365760" cy="36576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2286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Microsoft YaHei"/>
              </a:rPr>
              <a:t>Phase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2651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持续进化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9840" y="3200400"/>
            <a:ext cx="146304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22992" y="3291840"/>
            <a:ext cx="1316736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icrosoft YaHei"/>
              </a:rPr>
              <a:t>多 Runtime + Skill 生态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2D2D"/>
                </a:solidFill>
                <a:latin typeface="Microsoft YaHei"/>
              </a:rPr>
              <a:t>全组织部署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Phase 1.6 — AI 交付闭环 + SSO + UX 增强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Microsoft YaHei"/>
              </a:rPr>
              <a:t>让 Web IDE 从"能对话"升级到"能交付"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7ACC"/>
                </a:solidFill>
                <a:latin typeface="Microsoft YaHei"/>
              </a:rPr>
              <a:t>AI → Workspace
交付闭环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workspace_write/read/list_files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AI 直接读写 workspace 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64592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1645920"/>
            <a:ext cx="256032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2286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7ACC"/>
                </a:solidFill>
                <a:latin typeface="Microsoft YaHei"/>
              </a:rPr>
              <a:t>file_changed
事件驱动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SSE 推送 → 文件树自动刷新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编辑器自动打开新文件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2560320" cy="5486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2286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B48A"/>
                </a:solidFill>
                <a:latin typeface="Microsoft YaHei"/>
              </a:rPr>
              <a:t>Keycloak SSO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OIDC PKCE 登录流程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4 容器部署 + realm 导入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1645920"/>
            <a:ext cx="2560320" cy="5486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828800"/>
            <a:ext cx="2286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B48A"/>
                </a:solidFill>
                <a:latin typeface="Microsoft YaHei"/>
              </a:rPr>
              <a:t>Context Picker
实连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/api/context/search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4 类别真实数据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06240"/>
            <a:ext cx="2286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  <a:latin typeface="Microsoft YaHei"/>
              </a:rPr>
              <a:t>代码块 Apply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一键写入 workspace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20+ 语言扩展名映射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402336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402336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4206240"/>
            <a:ext cx="2286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  <a:latin typeface="Microsoft YaHei"/>
              </a:rPr>
              <a:t>FileExplorer
CRUD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右键新建/重命名/删除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文件 + 文件夹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02336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02336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06240"/>
            <a:ext cx="2286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Microsoft YaHei"/>
              </a:rPr>
              <a:t>未保存标记 +
自动保存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Tab 蓝色圆点标记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5 秒防抖自动保存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402336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402336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4206240"/>
            <a:ext cx="2286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Microsoft YaHei"/>
              </a:rPr>
              <a:t>System Prompt
交付指导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AI 被指导必须写文件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而非仅在聊天展示代码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MCP 工具体系 — 聚合架构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4114800" cy="4846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74903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7ACC"/>
                </a:solidFill>
                <a:latin typeface="Microsoft YaHei"/>
              </a:rPr>
              <a:t>后端 MCP Server（5 个 / 20 Tool）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forge-knowledge-mcp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  知识库读写 + 空白检测 (6 tools)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forge-database-mcp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  数据库元信息查询 (3 tools)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forge-service-graph-mcp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  服务依赖图谱 (5 tools)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forge-artifact-mcp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  制品库 + CVE 扫描 (3 tools)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forge-observability-mcp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  日志/指标/链路 (3 tools)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2004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7ACC"/>
                </a:solidFill>
                <a:latin typeface="Microsoft YaHe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8404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McpProxyService
聚合层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48A"/>
                </a:solidFill>
                <a:latin typeface="Microsoft YaHei"/>
              </a:rPr>
              <a:t>Claude API 暴露（9 个聚合 Tool）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knowledge_search  —  统一知识搜索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database_query  —  数据库查询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service_graph  —  服务依赖查询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artifact_search  —  制品搜索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observability_query  —  可观测性查询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codebase_analysis  —  代码库分析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7ACC"/>
                </a:solidFill>
                <a:latin typeface="Microsoft YaHei"/>
              </a:rPr>
              <a:t>workspace_write_file  —  AI 写文件到 workspace  ★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7ACC"/>
                </a:solidFill>
                <a:latin typeface="Microsoft YaHei"/>
              </a:rPr>
              <a:t>workspace_read_file  —  AI 读 workspace 文件  ★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007ACC"/>
                </a:solidFill>
                <a:latin typeface="Microsoft YaHei"/>
              </a:rPr>
              <a:t>workspace_list_files  —  AI 列出文件 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6692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7ACC"/>
                </a:solidFill>
                <a:latin typeface="Microsoft YaHei"/>
              </a:rPr>
              <a:t>★ Phase 1.6 新增（AI 交付闭环核心能力）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技术架构与部署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CC"/>
                </a:solidFill>
                <a:latin typeface="Microsoft YaHei"/>
              </a:rPr>
              <a:t>Web IDE 技术选型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2D2D2D"/>
                </a:solidFill>
                <a:latin typeface="Microsoft YaHei"/>
              </a:rPr>
              <a:t>前端</a:t>
            </a:r>
            <a:r>
              <a:rPr sz="1500">
                <a:solidFill>
                  <a:srgbClr val="666666"/>
                </a:solidFill>
                <a:latin typeface="Microsoft YaHei"/>
              </a:rPr>
              <a:t>  React 19 + Next.js 15 (App Router)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2D2D2D"/>
                </a:solidFill>
                <a:latin typeface="Microsoft YaHei"/>
              </a:rPr>
              <a:t>编辑器</a:t>
            </a:r>
            <a:r>
              <a:rPr sz="1500">
                <a:solidFill>
                  <a:srgbClr val="666666"/>
                </a:solidFill>
                <a:latin typeface="Microsoft YaHei"/>
              </a:rPr>
              <a:t>  Monaco Editor (VS Code 内核)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2D2D2D"/>
                </a:solidFill>
                <a:latin typeface="Microsoft YaHei"/>
              </a:rPr>
              <a:t>UI</a:t>
            </a:r>
            <a:r>
              <a:rPr sz="1500">
                <a:solidFill>
                  <a:srgbClr val="666666"/>
                </a:solidFill>
                <a:latin typeface="Microsoft YaHei"/>
              </a:rPr>
              <a:t>  shadcn/ui + TailwindCSS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2D2D2D"/>
                </a:solidFill>
                <a:latin typeface="Microsoft YaHei"/>
              </a:rPr>
              <a:t>状态</a:t>
            </a:r>
            <a:r>
              <a:rPr sz="1500">
                <a:solidFill>
                  <a:srgbClr val="666666"/>
                </a:solidFill>
                <a:latin typeface="Microsoft YaHei"/>
              </a:rPr>
              <a:t>  Zustand + React Query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2D2D2D"/>
                </a:solidFill>
                <a:latin typeface="Microsoft YaHei"/>
              </a:rPr>
              <a:t>后端</a:t>
            </a:r>
            <a:r>
              <a:rPr sz="1500">
                <a:solidFill>
                  <a:srgbClr val="666666"/>
                </a:solidFill>
                <a:latin typeface="Microsoft YaHei"/>
              </a:rPr>
              <a:t>  Spring Boot 3 (Kotlin) + WebSocket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2D2D2D"/>
                </a:solidFill>
                <a:latin typeface="Microsoft YaHei"/>
              </a:rPr>
              <a:t>认证</a:t>
            </a:r>
            <a:r>
              <a:rPr sz="1500">
                <a:solidFill>
                  <a:srgbClr val="666666"/>
                </a:solidFill>
                <a:latin typeface="Microsoft YaHei"/>
              </a:rPr>
              <a:t>  Keycloak 24.0 (OIDC PKCE)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2D2D2D"/>
                </a:solidFill>
                <a:latin typeface="Microsoft YaHei"/>
              </a:rPr>
              <a:t>AI</a:t>
            </a:r>
            <a:r>
              <a:rPr sz="1500">
                <a:solidFill>
                  <a:srgbClr val="666666"/>
                </a:solidFill>
                <a:latin typeface="Microsoft YaHei"/>
              </a:rPr>
              <a:t>  Claude Agent SDK (流式 + MCP)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2D2D2D"/>
                </a:solidFill>
                <a:latin typeface="Microsoft YaHei"/>
              </a:rPr>
              <a:t>Runtime</a:t>
            </a:r>
            <a:r>
              <a:rPr sz="1500">
                <a:solidFill>
                  <a:srgbClr val="666666"/>
                </a:solidFill>
                <a:latin typeface="Microsoft YaHei"/>
              </a:rPr>
              <a:t>  ForgeNativeRuntime (Phase 2+)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8C00"/>
                </a:solidFill>
                <a:latin typeface="Microsoft YaHei"/>
              </a:rPr>
              <a:t>4 容器部署架构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600" b="1">
                <a:solidFill>
                  <a:srgbClr val="2D2D2D"/>
                </a:solidFill>
                <a:latin typeface="Microsoft YaHei"/>
              </a:rPr>
              <a:t>📦  Nginx  (:9000)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     反向代理 + 统一入口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600" b="1">
                <a:solidFill>
                  <a:srgbClr val="2D2D2D"/>
                </a:solidFill>
                <a:latin typeface="Microsoft YaHei"/>
              </a:rPr>
              <a:t>📦  Frontend  (Next.js)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     SSR + 静态资源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600" b="1">
                <a:solidFill>
                  <a:srgbClr val="2D2D2D"/>
                </a:solidFill>
                <a:latin typeface="Microsoft YaHei"/>
              </a:rPr>
              <a:t>📦  Backend  (Spring Boot)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     API + SSE + MCP Proxy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600" b="1">
                <a:solidFill>
                  <a:srgbClr val="2D2D2D"/>
                </a:solidFill>
                <a:latin typeface="Microsoft YaHei"/>
              </a:rPr>
              <a:t>📦  Keycloak  (:8180)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     SSO + OIDC + 用户管理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一键启动：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007ACC"/>
                </a:solidFill>
                <a:latin typeface="Microsoft YaHei"/>
              </a:rPr>
              <a:t>docker compose -f docker-compose.trial.yml 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Skill 体系 + 底线体系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  <a:latin typeface="Microsoft YaHei"/>
              </a:rPr>
              <a:t>Skill 分层体系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3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交付阶段 Skill × 8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requirement-analysis / prd-writing / architecture-design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detailed-design / code-generation / test-case-writing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test-execution / deployment-ops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3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Foundation Skill × 13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java-conventions / kotlin-conventions / spring-boot-patterns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gradle-build / testing-standards / api-design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database-patterns / error-handling / logging-observability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security-practices / deployment-readiness-check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environment-parity / design-baseline-guardian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3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知识挖掘 Skill × 3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codebase-profiler（多语言）/ convention-miner（跨语言）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3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跨栈迁移 Skill × 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business-rule-extraction（业务规则 + 边界条件）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3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Domain Skill × 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按业务域扩展：payment / order / inventory 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04040"/>
                </a:solidFill>
                <a:latin typeface="Microsoft YaHei"/>
              </a:rPr>
              <a:t>底线体系（8 个脚本）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D2D2D"/>
                </a:solidFill>
                <a:latin typeface="Microsoft YaHei"/>
              </a:rPr>
              <a:t>code-style-baseline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阻断提交 — ktlint + checkstyle 零违规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D2D2D"/>
                </a:solidFill>
                <a:latin typeface="Microsoft YaHei"/>
              </a:rPr>
              <a:t>security-baseline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阻断提交 — 无硬编码凭证 / SQL 注入 / XSS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D2D2D"/>
                </a:solidFill>
                <a:latin typeface="Microsoft YaHei"/>
              </a:rPr>
              <a:t>test-coverage-baseline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阻断 merge — Service ≥ 80% 覆盖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D2D2D"/>
                </a:solidFill>
                <a:latin typeface="Microsoft YaHei"/>
              </a:rPr>
              <a:t>api-contract-baseline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阻断 merge — OpenAPI Spec 一致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D2D2D"/>
                </a:solidFill>
                <a:latin typeface="Microsoft YaHei"/>
              </a:rPr>
              <a:t>architecture-baseline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阻断 merge — 依赖方向正确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D2D2D"/>
                </a:solidFill>
                <a:latin typeface="Microsoft YaHei"/>
              </a:rPr>
              <a:t>deployment-preflight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阻断部署 — Lockfile + Dockerfile + 环境变量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D2D2D"/>
                </a:solidFill>
                <a:latin typeface="Microsoft YaHei"/>
              </a:rPr>
              <a:t>runtime-health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阻断发布 — 端点可达 + Bean 完整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D2D2D"/>
                </a:solidFill>
                <a:latin typeface="Microsoft YaHei"/>
              </a:rPr>
              <a:t>design-regression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  阻断 merge — API 契约 + UI 路由 + 数据模型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FF8C00"/>
                </a:solidFill>
                <a:latin typeface="Microsoft YaHei"/>
              </a:rPr>
              <a:t>⚠ Gap：尚未集成到 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已识别 Gap + Phase 2 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8C00"/>
                </a:solidFill>
                <a:latin typeface="Microsoft YaHei"/>
              </a:rPr>
              <a:t>已识别 Gap（5 项）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600" b="1">
                <a:solidFill>
                  <a:srgbClr val="FF8C00"/>
                </a:solidFill>
                <a:latin typeface="Microsoft YaHei"/>
              </a:rPr>
              <a:t>⚠  底线 CI 集成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    8 个底线脚本已设计，尚未集成到 GitHub Actions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7ACC"/>
                </a:solidFill>
                <a:latin typeface="Microsoft YaHei"/>
              </a:rPr>
              <a:t>    → 目标阶段: Phase 2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600" b="1">
                <a:solidFill>
                  <a:srgbClr val="FF8C00"/>
                </a:solidFill>
                <a:latin typeface="Microsoft YaHei"/>
              </a:rPr>
              <a:t>⚠  Playwright E2E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    89 个手动验收用例未自动化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7ACC"/>
                </a:solidFill>
                <a:latin typeface="Microsoft YaHei"/>
              </a:rPr>
              <a:t>    → 目标阶段: Phase 2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600" b="1">
                <a:solidFill>
                  <a:srgbClr val="FF8C00"/>
                </a:solidFill>
                <a:latin typeface="Microsoft YaHei"/>
              </a:rPr>
              <a:t>⚠  内部用户试用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    3-5 人实际使用 ≥ 3 天尚未开展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7ACC"/>
                </a:solidFill>
                <a:latin typeface="Microsoft YaHei"/>
              </a:rPr>
              <a:t>    → 目标阶段: Phase 2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600" b="1">
                <a:solidFill>
                  <a:srgbClr val="FF8C00"/>
                </a:solidFill>
                <a:latin typeface="Microsoft YaHei"/>
              </a:rPr>
              <a:t>⚠  AI Chat 流式验证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    待 API Key 配置后验证完整流式体验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7ACC"/>
                </a:solidFill>
                <a:latin typeface="Microsoft YaHei"/>
              </a:rPr>
              <a:t>    → 目标阶段: Phase 2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600" b="1">
                <a:solidFill>
                  <a:srgbClr val="FF8C00"/>
                </a:solidFill>
                <a:latin typeface="Microsoft YaHei"/>
              </a:rPr>
              <a:t>⚠  进化环（环 2）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    全部组件待实现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7ACC"/>
                </a:solidFill>
                <a:latin typeface="Microsoft YaHei"/>
              </a:rPr>
              <a:t>    → 目标阶段: Phase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CC"/>
                </a:solidFill>
                <a:latin typeface="Microsoft YaHei"/>
              </a:rPr>
              <a:t>Phase 2 关键交付物（12 项）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SuperAgent OODA 引擎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SkillLoader.kt 条件触发增强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ProfileRouter.kt 后端智能路由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MCP Server 完善（service-graph / database）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convention-miner 跨语言增强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13 个 Foundation Skill 全部实现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端到端跨栈迁移 PoC（.NET → Java）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agent-eval 评估集填充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度量基线采集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底线脚本 CI 集成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Playwright E2E 自动化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0">
                <a:solidFill>
                  <a:srgbClr val="2D2D2D"/>
                </a:solidFill>
                <a:latin typeface="Microsoft YaHei"/>
              </a:rPr>
              <a:t>☐  3-5 人内部试用 + 反馈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00B48A"/>
                </a:solidFill>
                <a:latin typeface="Microsoft YaHei"/>
              </a:rPr>
              <a:t>验收：OODA 底线通过率 ≥ 70%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价值度量体系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86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7ACC"/>
                </a:solidFill>
                <a:latin typeface="Microsoft YaHei"/>
              </a:rPr>
              <a:t>活跃度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日活率 / Skill 触发 / MCP 调用 / Web IDE 会话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目标: 4 周 60%+ 渗透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554480"/>
            <a:ext cx="2286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48A"/>
                </a:solidFill>
                <a:latin typeface="Microsoft YaHei"/>
              </a:rPr>
              <a:t>效率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PR 周期 / 审查时间 / 新人上手 / Bug 修复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目标: 缩短 30-60%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2286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48A"/>
                </a:solidFill>
                <a:latin typeface="Microsoft YaHei"/>
              </a:rPr>
              <a:t>质量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生产 Bug 率 / 规范一致性 / 测试覆盖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目标: 持续改善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554480"/>
            <a:ext cx="2286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8C00"/>
                </a:solidFill>
                <a:latin typeface="Microsoft YaHei"/>
              </a:rPr>
              <a:t>迁移效率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跨栈迁移人天对比（传统 vs Forge）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目标: 10x+ 人天提效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256032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256032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2286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7ACC"/>
                </a:solidFill>
                <a:latin typeface="Microsoft YaHei"/>
              </a:rPr>
              <a:t>Agent 可靠性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OODA 一次通过率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目标: ≥ 85%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931920"/>
            <a:ext cx="256032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93192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4114800"/>
            <a:ext cx="2286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Microsoft YaHei"/>
              </a:rPr>
              <a:t>设计保真度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设计基线回归测试通过率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目标: 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931920"/>
            <a:ext cx="256032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931920"/>
            <a:ext cx="2560320" cy="54864"/>
          </a:xfrm>
          <a:prstGeom prst="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14800"/>
            <a:ext cx="2286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04040"/>
                </a:solidFill>
                <a:latin typeface="Microsoft YaHei"/>
              </a:rPr>
              <a:t>部署效率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首次部署成功率（pre-flight 后）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目标: ≥ 90% (vs 7.7%)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931920"/>
            <a:ext cx="256032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3931920"/>
            <a:ext cx="256032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4114800"/>
            <a:ext cx="2286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66666"/>
                </a:solidFill>
                <a:latin typeface="Microsoft YaHei"/>
              </a:rPr>
              <a:t>Runtime 独立性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Web IDE 不依赖 Claude Code 覆盖率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2D2D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2D2D"/>
                </a:solidFill>
                <a:latin typeface="Microsoft YaHei"/>
              </a:rPr>
              <a:t>目标: Phase 3 → 100%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48A"/>
                </a:solidFill>
                <a:latin typeface="Microsoft YaHei"/>
              </a:rPr>
              <a:t>✅  已完成</a:t>
            </a:r>
            <a:r>
              <a:rPr sz="1800">
                <a:solidFill>
                  <a:srgbClr val="CCCCCC"/>
                </a:solidFill>
                <a:latin typeface="Microsoft YaHei"/>
              </a:rPr>
              <a:t>    Phase 0 → 1 → 1.5 → 1.6，Web IDE 从骨架到可交付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48A"/>
                </a:solidFill>
                <a:latin typeface="Microsoft YaHei"/>
              </a:rPr>
              <a:t>🔧  核心能力</a:t>
            </a:r>
            <a:r>
              <a:rPr sz="1800">
                <a:solidFill>
                  <a:srgbClr val="CCCCCC"/>
                </a:solidFill>
                <a:latin typeface="Microsoft YaHei"/>
              </a:rPr>
              <a:t>    9 个 MCP 工具 / 5 个 Skill Profile / 13 Foundation Skill / 8 底线脚本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48A"/>
                </a:solidFill>
                <a:latin typeface="Microsoft YaHei"/>
              </a:rPr>
              <a:t>📦  部署就绪</a:t>
            </a:r>
            <a:r>
              <a:rPr sz="1800">
                <a:solidFill>
                  <a:srgbClr val="CCCCCC"/>
                </a:solidFill>
                <a:latin typeface="Microsoft YaHei"/>
              </a:rPr>
              <a:t>    4 容器 Docker 一键启动 + Keycloak 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48A"/>
                </a:solidFill>
                <a:latin typeface="Microsoft YaHei"/>
              </a:rPr>
              <a:t>📊  质量保障</a:t>
            </a:r>
            <a:r>
              <a:rPr sz="1800">
                <a:solidFill>
                  <a:srgbClr val="CCCCCC"/>
                </a:solidFill>
                <a:latin typeface="Microsoft YaHei"/>
              </a:rPr>
              <a:t>    130+ 测试 / 89 验收用例 / 设计基线 v5 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577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48A"/>
                </a:solidFill>
                <a:latin typeface="Microsoft YaHei"/>
              </a:rPr>
              <a:t>👈  下一步</a:t>
            </a:r>
            <a:r>
              <a:rPr sz="1800">
                <a:solidFill>
                  <a:srgbClr val="CCCCCC"/>
                </a:solidFill>
                <a:latin typeface="Microsoft YaHei"/>
              </a:rPr>
              <a:t>    Phase 2：OODA 引擎 + SkillLoader 增强 + 底线 CI + 用户试用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