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>
                <a:solidFill>
                  <a:srgbClr val="FFFFFF"/>
                </a:solidFill>
                <a:latin typeface="PingFang SC"/>
              </a:rPr>
              <a:t>重新定义软件交付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2004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8A8A9A"/>
                </a:solidFill>
                <a:latin typeface="PingFang SC"/>
              </a:rPr>
              <a:t>当 1 个人 + AI 拥有 7 人团队的交付能力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206240"/>
            <a:ext cx="2103120" cy="36576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45720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387AFF"/>
                </a:solidFill>
                <a:latin typeface="PingFang SC"/>
              </a:rPr>
              <a:t>Forge 智能交付平台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5212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505060"/>
                </a:solidFill>
                <a:latin typeface="SF Pro Display"/>
              </a:rPr>
              <a:t>2026.02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PingFang SC"/>
              </a:rPr>
              <a:t>我们面对的现实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05060"/>
                </a:solidFill>
                <a:latin typeface="SF Pro Display"/>
              </a:rP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737360" y="1719072"/>
            <a:ext cx="54864" cy="82296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1645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PingFang SC"/>
              </a:rPr>
              <a:t>5-7 人的 Scrum 团队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2103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A8A9A"/>
                </a:solidFill>
                <a:latin typeface="PingFang SC"/>
              </a:rPr>
              <a:t>每个角色一个人，知识在人脑里，人走知识就没了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8346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05060"/>
                </a:solidFill>
                <a:latin typeface="SF Pro Display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1737360" y="2907792"/>
            <a:ext cx="54864" cy="822960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0" y="2834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PingFang SC"/>
              </a:rPr>
              <a:t>AI 只是"更快的打字员"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3291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A8A9A"/>
                </a:solidFill>
                <a:latin typeface="PingFang SC"/>
              </a:rPr>
              <a:t>给每个人配一个 AI 助手 ≠ 交付效率的质变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0233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05060"/>
                </a:solidFill>
                <a:latin typeface="SF Pro Display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37360" y="4096512"/>
            <a:ext cx="54864" cy="822960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0" y="4023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PingFang SC"/>
              </a:rPr>
              <a:t>跨栈迁移是黑洞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44805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A8A9A"/>
                </a:solidFill>
                <a:latin typeface="PingFang SC"/>
              </a:rPr>
              <a:t>没人懂旧技术栈，人工迁移动辄数十人月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2120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05060"/>
                </a:solidFill>
                <a:latin typeface="SF Pro Display"/>
              </a:rPr>
              <a:t>04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737360" y="5285232"/>
            <a:ext cx="54864" cy="82296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11680" y="5212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PingFang SC"/>
              </a:rPr>
              <a:t>经验不沉淀，错误在重复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56692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A8A9A"/>
                </a:solidFill>
                <a:latin typeface="PingFang SC"/>
              </a:rPr>
              <a:t>同样的 CORS 漏洞、同样的部署失败，每个项目重来一遍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852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D4AA"/>
                </a:solidFill>
                <a:latin typeface="PingFang SC"/>
              </a:rPr>
              <a:t>问题的本质不是工具不够，而是交付流程本身没有被重构。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PingFang SC"/>
              </a:rPr>
              <a:t>三个关键洞察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474720" cy="4389120"/>
          </a:xfrm>
          <a:prstGeom prst="roundRect">
            <a:avLst>
              <a:gd name="adj" fmla="val 8000"/>
            </a:avLst>
          </a:prstGeom>
          <a:solidFill>
            <a:srgbClr val="1E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3474720" cy="54864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87AFF"/>
                </a:solidFill>
                <a:latin typeface="PingFang SC"/>
              </a:rPr>
              <a:t>SuperAgent，不是 Multi-Agent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83464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</a:pPr>
            <a:r>
              <a:rPr sz="1400" b="0">
                <a:solidFill>
                  <a:srgbClr val="E0E0E0"/>
                </a:solidFill>
                <a:latin typeface="PingFang SC"/>
              </a:rPr>
              <a:t>不是给 5 个角色各配一个 AI Agent。
而是 1 个超级智能体，通过 Skill Profile 动态切换角色。
一个人 + 一个 SuperAgent = 完整交付能力。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5303520"/>
            <a:ext cx="1371600" cy="36576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54864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87AFF"/>
                </a:solidFill>
                <a:latin typeface="PingFang SC"/>
              </a:rPr>
              <a:t>1 个智能体 &gt; 5 个独立 Agent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645920"/>
            <a:ext cx="3474720" cy="4389120"/>
          </a:xfrm>
          <a:prstGeom prst="roundRect">
            <a:avLst>
              <a:gd name="adj" fmla="val 8000"/>
            </a:avLst>
          </a:prstGeom>
          <a:solidFill>
            <a:srgbClr val="1E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59" y="1645920"/>
            <a:ext cx="347472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79" y="201168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D4AA"/>
                </a:solidFill>
                <a:latin typeface="PingFang SC"/>
              </a:rPr>
              <a:t>Skill 是真正的护城河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283464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</a:pPr>
            <a:r>
              <a:rPr sz="1400" b="0">
                <a:solidFill>
                  <a:srgbClr val="E0E0E0"/>
                </a:solidFill>
                <a:latin typeface="PingFang SC"/>
              </a:rPr>
              <a:t>模型会被追平，Prompt 会被抄走。
但编码了团队十年经验的 Skill 体系无法复制。
这是碳基智能向硅基智能的系统性知识迁移。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79" y="5303520"/>
            <a:ext cx="137160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79" y="54864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D4AA"/>
                </a:solidFill>
                <a:latin typeface="PingFang SC"/>
              </a:rPr>
              <a:t>25+ Skills = 团队经验的数字化资产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599" y="1645920"/>
            <a:ext cx="3474720" cy="4389120"/>
          </a:xfrm>
          <a:prstGeom prst="roundRect">
            <a:avLst>
              <a:gd name="adj" fmla="val 8000"/>
            </a:avLst>
          </a:prstGeom>
          <a:solidFill>
            <a:srgbClr val="1E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599" y="1645920"/>
            <a:ext cx="3474720" cy="54864"/>
          </a:xfrm>
          <a:prstGeom prst="rect">
            <a:avLst/>
          </a:prstGeom>
          <a:solidFill>
            <a:srgbClr val="A7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19" y="201168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A77BFF"/>
                </a:solidFill>
                <a:latin typeface="PingFang SC"/>
              </a:rPr>
              <a:t>双环驱动：越用越好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19" y="283464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</a:pPr>
            <a:r>
              <a:rPr sz="1400" b="0">
                <a:solidFill>
                  <a:srgbClr val="E0E0E0"/>
                </a:solidFill>
                <a:latin typeface="PingFang SC"/>
              </a:rPr>
              <a:t>交付环解决"做什么"，进化环解决"越做越好"。
每次交付产生数据 → 提取知识 → 反哺 AI → 下次更好。
不是工具，是一个自我进化的交付系统。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03919" y="5303520"/>
            <a:ext cx="1371600" cy="36576"/>
          </a:xfrm>
          <a:prstGeom prst="rect">
            <a:avLst/>
          </a:prstGeom>
          <a:solidFill>
            <a:srgbClr val="A7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19" y="54864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77BFF"/>
                </a:solidFill>
                <a:latin typeface="PingFang SC"/>
              </a:rPr>
              <a:t>交付 × 进化 = 飞轮效应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PingFang SC"/>
              </a:rPr>
              <a:t>SuperAgent：一个智能体，五种角色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A8A9A"/>
                </a:solidFill>
                <a:latin typeface="PingFang SC"/>
              </a:rPr>
              <a:t>根据任务自动切换 Skill Profile，覆盖从需求到运维的完整交付链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011680"/>
            <a:ext cx="2103120" cy="3200400"/>
          </a:xfrm>
          <a:prstGeom prst="roundRect">
            <a:avLst>
              <a:gd name="adj" fmla="val 8000"/>
            </a:avLst>
          </a:prstGeom>
          <a:solidFill>
            <a:srgbClr val="1E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2103120" cy="54864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387AFF"/>
                </a:solidFill>
                <a:latin typeface="PingFang SC"/>
              </a:rPr>
              <a:t>规划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889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05060"/>
                </a:solidFill>
                <a:latin typeface="SF Mono"/>
              </a:rPr>
              <a:t>planning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91840"/>
            <a:ext cx="1737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</a:pPr>
            <a:r>
              <a:rPr sz="1400" b="0">
                <a:solidFill>
                  <a:srgbClr val="E0E0E0"/>
                </a:solidFill>
                <a:latin typeface="PingFang SC"/>
              </a:rPr>
              <a:t>需求分析
PRD 编写
可行性评估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52928" y="2011680"/>
            <a:ext cx="2103120" cy="3200400"/>
          </a:xfrm>
          <a:prstGeom prst="roundRect">
            <a:avLst>
              <a:gd name="adj" fmla="val 8000"/>
            </a:avLst>
          </a:prstGeom>
          <a:solidFill>
            <a:srgbClr val="1E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52928" y="2011680"/>
            <a:ext cx="210312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35808" y="22860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0D4AA"/>
                </a:solidFill>
                <a:latin typeface="PingFang SC"/>
              </a:rPr>
              <a:t>设计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35808" y="27889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05060"/>
                </a:solidFill>
                <a:latin typeface="SF Mono"/>
              </a:rPr>
              <a:t>design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35808" y="3291840"/>
            <a:ext cx="1737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</a:pPr>
            <a:r>
              <a:rPr sz="1400" b="0">
                <a:solidFill>
                  <a:srgbClr val="E0E0E0"/>
                </a:solidFill>
                <a:latin typeface="PingFang SC"/>
              </a:rPr>
              <a:t>架构设计
API 设计
影响分析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57216" y="2011680"/>
            <a:ext cx="2103120" cy="3200400"/>
          </a:xfrm>
          <a:prstGeom prst="roundRect">
            <a:avLst>
              <a:gd name="adj" fmla="val 8000"/>
            </a:avLst>
          </a:prstGeom>
          <a:solidFill>
            <a:srgbClr val="1E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157216" y="2011680"/>
            <a:ext cx="2103120" cy="54864"/>
          </a:xfrm>
          <a:prstGeom prst="rect">
            <a:avLst/>
          </a:prstGeom>
          <a:solidFill>
            <a:srgbClr val="A7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40096" y="22860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A77BFF"/>
                </a:solidFill>
                <a:latin typeface="PingFang SC"/>
              </a:rPr>
              <a:t>开发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0096" y="27889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05060"/>
                </a:solidFill>
                <a:latin typeface="SF Mono"/>
              </a:rPr>
              <a:t>development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0096" y="3291840"/>
            <a:ext cx="1737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</a:pPr>
            <a:r>
              <a:rPr sz="1400" b="0">
                <a:solidFill>
                  <a:srgbClr val="E0E0E0"/>
                </a:solidFill>
                <a:latin typeface="PingFang SC"/>
              </a:rPr>
              <a:t>代码生成
规范遵循
13 Foundation Skills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61504" y="2011680"/>
            <a:ext cx="2103120" cy="3200400"/>
          </a:xfrm>
          <a:prstGeom prst="roundRect">
            <a:avLst>
              <a:gd name="adj" fmla="val 8000"/>
            </a:avLst>
          </a:prstGeom>
          <a:solidFill>
            <a:srgbClr val="1E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61504" y="2011680"/>
            <a:ext cx="2103120" cy="54864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44384" y="22860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9F43"/>
                </a:solidFill>
                <a:latin typeface="PingFang SC"/>
              </a:rPr>
              <a:t>测试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44384" y="27889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05060"/>
                </a:solidFill>
                <a:latin typeface="SF Mono"/>
              </a:rPr>
              <a:t>testing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44384" y="3291840"/>
            <a:ext cx="1737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</a:pPr>
            <a:r>
              <a:rPr sz="1400" b="0">
                <a:solidFill>
                  <a:srgbClr val="E0E0E0"/>
                </a:solidFill>
                <a:latin typeface="PingFang SC"/>
              </a:rPr>
              <a:t>用例设计
边界识别
自动化执行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765792" y="2011680"/>
            <a:ext cx="2103120" cy="3200400"/>
          </a:xfrm>
          <a:prstGeom prst="roundRect">
            <a:avLst>
              <a:gd name="adj" fmla="val 8000"/>
            </a:avLst>
          </a:prstGeom>
          <a:solidFill>
            <a:srgbClr val="1E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765792" y="2011680"/>
            <a:ext cx="210312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48672" y="22860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6B6B"/>
                </a:solidFill>
                <a:latin typeface="PingFang SC"/>
              </a:rPr>
              <a:t>运维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48672" y="27889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05060"/>
                </a:solidFill>
                <a:latin typeface="SF Mono"/>
              </a:rPr>
              <a:t>ops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48672" y="3291840"/>
            <a:ext cx="1737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</a:pPr>
            <a:r>
              <a:rPr sz="1400" b="0">
                <a:solidFill>
                  <a:srgbClr val="E0E0E0"/>
                </a:solidFill>
                <a:latin typeface="PingFang SC"/>
              </a:rPr>
              <a:t>部署策略
风险评估
K8s 编排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577840"/>
            <a:ext cx="10698480" cy="914400"/>
          </a:xfrm>
          <a:prstGeom prst="roundRect">
            <a:avLst>
              <a:gd name="adj" fmla="val 8000"/>
            </a:avLst>
          </a:prstGeom>
          <a:solidFill>
            <a:srgbClr val="24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6692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D4AA"/>
                </a:solidFill>
                <a:latin typeface="SF Pro Display"/>
              </a:rPr>
              <a:t>Observe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6035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A8A9A"/>
                </a:solidFill>
                <a:latin typeface="PingFang SC"/>
              </a:rPr>
              <a:t>观察上下文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06040" y="57150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505060"/>
                </a:solidFill>
                <a:latin typeface="SF Pro Display"/>
              </a:rP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08960" y="56692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D4AA"/>
                </a:solidFill>
                <a:latin typeface="SF Pro Display"/>
              </a:rPr>
              <a:t>Orient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08960" y="6035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A8A9A"/>
                </a:solidFill>
                <a:latin typeface="PingFang SC"/>
              </a:rPr>
              <a:t>分析 + 查知识库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00600" y="57150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505060"/>
                </a:solidFill>
                <a:latin typeface="SF Pro Display"/>
              </a:rP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03520" y="56692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D4AA"/>
                </a:solidFill>
                <a:latin typeface="SF Pro Display"/>
              </a:rPr>
              <a:t>Decide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03520" y="6035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A8A9A"/>
                </a:solidFill>
                <a:latin typeface="PingFang SC"/>
              </a:rPr>
              <a:t>制定方案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95160" y="57150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505060"/>
                </a:solidFill>
                <a:latin typeface="SF Pro Display"/>
              </a:rPr>
              <a:t>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79" y="56692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D4AA"/>
                </a:solidFill>
                <a:latin typeface="SF Pro Display"/>
              </a:rPr>
              <a:t>Act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79" y="6035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A8A9A"/>
                </a:solidFill>
                <a:latin typeface="PingFang SC"/>
              </a:rPr>
              <a:t>执行 + 底线检查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89719" y="57150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505060"/>
                </a:solidFill>
                <a:latin typeface="SF Pro Display"/>
              </a:rPr>
              <a:t>→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92640" y="56692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D4AA"/>
                </a:solidFill>
                <a:latin typeface="SF Pro Display"/>
              </a:rPr>
              <a:t>HITL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92640" y="6035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A8A9A"/>
                </a:solidFill>
                <a:latin typeface="PingFang SC"/>
              </a:rPr>
              <a:t>人在回路审批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PingFang SC"/>
              </a:rPr>
              <a:t>突破：AI 不再只是聊天，而是交付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>
              <a:gd name="adj" fmla="val 8000"/>
            </a:avLst>
          </a:prstGeom>
          <a:solidFill>
            <a:srgbClr val="1E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512064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6B6B"/>
                </a:solidFill>
                <a:latin typeface="PingFang SC"/>
              </a:rPr>
              <a:t>Before：传统 AI 辅助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37744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PingFang SC"/>
              </a:rPr>
              <a:t/>
            </a:r>
          </a:p>
          <a:p>
            <a:pPr algn="l"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8A8A9A"/>
                </a:solidFill>
                <a:latin typeface="PingFang SC"/>
              </a:rPr>
              <a:t>✗  用户提问 → AI 在聊天窗口展示代码</a:t>
            </a:r>
          </a:p>
          <a:p>
            <a:pPr algn="l"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8A8A9A"/>
                </a:solidFill>
                <a:latin typeface="PingFang SC"/>
              </a:rPr>
              <a:t>✗  用户手动复制粘贴到文件</a:t>
            </a:r>
          </a:p>
          <a:p>
            <a:pPr algn="l"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8A8A9A"/>
                </a:solidFill>
                <a:latin typeface="PingFang SC"/>
              </a:rPr>
              <a:t>✗  用户手动创建/管理文件结构</a:t>
            </a:r>
          </a:p>
          <a:p>
            <a:pPr algn="l"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8A8A9A"/>
                </a:solidFill>
                <a:latin typeface="PingFang SC"/>
              </a:rPr>
              <a:t>✗  知识搜索返回 mock 数据</a:t>
            </a:r>
          </a:p>
          <a:p>
            <a:pPr algn="l"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8A8A9A"/>
                </a:solidFill>
                <a:latin typeface="PingFang SC"/>
              </a:rPr>
              <a:t>✗  没有认证，没有权限</a:t>
            </a:r>
          </a:p>
          <a:p>
            <a:pPr algn="l"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8A8A9A"/>
                </a:solidFill>
                <a:latin typeface="PingFang SC"/>
              </a:rPr>
              <a:t>✗  AI 不了解项目结构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0" y="3200400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387AFF"/>
                </a:solidFill>
                <a:latin typeface="SF Pro Display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463040"/>
            <a:ext cx="5394960" cy="4754880"/>
          </a:xfrm>
          <a:prstGeom prst="roundRect">
            <a:avLst>
              <a:gd name="adj" fmla="val 8000"/>
            </a:avLst>
          </a:prstGeom>
          <a:solidFill>
            <a:srgbClr val="1E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1463040"/>
            <a:ext cx="539496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7373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D4AA"/>
                </a:solidFill>
                <a:latin typeface="PingFang SC"/>
              </a:rPr>
              <a:t>After：Forge AI 交付闭环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37744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PingFang SC"/>
              </a:rPr>
              <a:t/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500" b="0">
                <a:solidFill>
                  <a:srgbClr val="FFFFFF"/>
                </a:solidFill>
                <a:latin typeface="PingFang SC"/>
              </a:rPr>
              <a:t>✓  用户描述需求 → AI 直接写文件到 workspace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500" b="0">
                <a:solidFill>
                  <a:srgbClr val="FFFFFF"/>
                </a:solidFill>
                <a:latin typeface="PingFang SC"/>
              </a:rPr>
              <a:t>✓  文件树自动刷新，编辑器自动打开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05060"/>
                </a:solidFill>
                <a:latin typeface="PingFang SC"/>
              </a:rPr>
              <a:t>     SSE 事件驱动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500" b="0">
                <a:solidFill>
                  <a:srgbClr val="FFFFFF"/>
                </a:solidFill>
                <a:latin typeface="PingFang SC"/>
              </a:rPr>
              <a:t>✓  AI 主动了解项目结构再动手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05060"/>
                </a:solidFill>
                <a:latin typeface="PingFang SC"/>
              </a:rPr>
              <a:t>     workspace_list_files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500" b="0">
                <a:solidFill>
                  <a:srgbClr val="FFFFFF"/>
                </a:solidFill>
                <a:latin typeface="PingFang SC"/>
              </a:rPr>
              <a:t>✓  知识搜索返回真实文档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05060"/>
                </a:solidFill>
                <a:latin typeface="PingFang SC"/>
              </a:rPr>
              <a:t>     12+ 知识库实连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500" b="0">
                <a:solidFill>
                  <a:srgbClr val="FFFFFF"/>
                </a:solidFill>
                <a:latin typeface="PingFang SC"/>
              </a:rPr>
              <a:t>✓  Keycloak SSO + OIDC PKCE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05060"/>
                </a:solidFill>
                <a:latin typeface="PingFang SC"/>
              </a:rPr>
              <a:t>     企业级认证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500" b="0">
                <a:solidFill>
                  <a:srgbClr val="FFFFFF"/>
                </a:solidFill>
                <a:latin typeface="PingFang SC"/>
              </a:rPr>
              <a:t>✓  代码块一键 Apply，5 秒自动保存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05060"/>
                </a:solidFill>
                <a:latin typeface="PingFang SC"/>
              </a:rPr>
              <a:t>     零摩擦体验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PingFang SC"/>
              </a:rPr>
              <a:t>我们已经走到了哪里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05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A8A9A"/>
                </a:solidFill>
                <a:latin typeface="PingFang SC"/>
              </a:rPr>
              <a:t>Phase 0 → 1 → 1.5 → 1.6  |  从零到可交付的完整闭环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560320" cy="1645920"/>
          </a:xfrm>
          <a:prstGeom prst="roundRect">
            <a:avLst>
              <a:gd name="adj" fmla="val 8000"/>
            </a:avLst>
          </a:prstGeom>
          <a:solidFill>
            <a:srgbClr val="1E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0D4AA"/>
                </a:solidFill>
                <a:latin typeface="SF Pro Display"/>
              </a:rPr>
              <a:t>45,000+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803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A8A9A"/>
                </a:solidFill>
                <a:latin typeface="PingFang SC"/>
              </a:rPr>
              <a:t>行代码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1828800"/>
            <a:ext cx="2560320" cy="1645920"/>
          </a:xfrm>
          <a:prstGeom prst="roundRect">
            <a:avLst>
              <a:gd name="adj" fmla="val 8000"/>
            </a:avLst>
          </a:prstGeom>
          <a:solidFill>
            <a:srgbClr val="1E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201168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387AFF"/>
                </a:solidFill>
                <a:latin typeface="SF Pro Display"/>
              </a:rPr>
              <a:t>320+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8803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A8A9A"/>
                </a:solidFill>
                <a:latin typeface="PingFang SC"/>
              </a:rPr>
              <a:t>文件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828800"/>
            <a:ext cx="2560320" cy="1645920"/>
          </a:xfrm>
          <a:prstGeom prst="roundRect">
            <a:avLst>
              <a:gd name="adj" fmla="val 8000"/>
            </a:avLst>
          </a:prstGeom>
          <a:solidFill>
            <a:srgbClr val="1E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01168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A77BFF"/>
                </a:solidFill>
                <a:latin typeface="SF Pro Display"/>
              </a:rPr>
              <a:t>130+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8803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A8A9A"/>
                </a:solidFill>
                <a:latin typeface="PingFang SC"/>
              </a:rPr>
              <a:t>测试用例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35440" y="1828800"/>
            <a:ext cx="2560320" cy="1645920"/>
          </a:xfrm>
          <a:prstGeom prst="roundRect">
            <a:avLst>
              <a:gd name="adj" fmla="val 8000"/>
            </a:avLst>
          </a:prstGeom>
          <a:solidFill>
            <a:srgbClr val="1E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0" y="201168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9F43"/>
                </a:solidFill>
                <a:latin typeface="SF Pro Display"/>
              </a:rPr>
              <a:t>89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28803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A8A9A"/>
                </a:solidFill>
                <a:latin typeface="PingFang SC"/>
              </a:rPr>
              <a:t>验收场景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749039"/>
            <a:ext cx="2560320" cy="1645920"/>
          </a:xfrm>
          <a:prstGeom prst="roundRect">
            <a:avLst>
              <a:gd name="adj" fmla="val 8000"/>
            </a:avLst>
          </a:prstGeom>
          <a:solidFill>
            <a:srgbClr val="1E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931919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0D4AA"/>
                </a:solidFill>
                <a:latin typeface="SF Pro Display"/>
              </a:rPr>
              <a:t>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80059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A8A9A"/>
                </a:solidFill>
                <a:latin typeface="PingFang SC"/>
              </a:rPr>
              <a:t>MCP 工具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66160" y="3749039"/>
            <a:ext cx="2560320" cy="1645920"/>
          </a:xfrm>
          <a:prstGeom prst="roundRect">
            <a:avLst>
              <a:gd name="adj" fmla="val 8000"/>
            </a:avLst>
          </a:prstGeom>
          <a:solidFill>
            <a:srgbClr val="1E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66160" y="3931919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387AFF"/>
                </a:solidFill>
                <a:latin typeface="SF Pro Display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480059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A8A9A"/>
                </a:solidFill>
                <a:latin typeface="PingFang SC"/>
              </a:rPr>
              <a:t>Skill Profile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3749039"/>
            <a:ext cx="2560320" cy="1645920"/>
          </a:xfrm>
          <a:prstGeom prst="roundRect">
            <a:avLst>
              <a:gd name="adj" fmla="val 8000"/>
            </a:avLst>
          </a:prstGeom>
          <a:solidFill>
            <a:srgbClr val="1E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931919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A77BFF"/>
                </a:solidFill>
                <a:latin typeface="SF Pro Display"/>
              </a:rPr>
              <a:t>13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80059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A8A9A"/>
                </a:solidFill>
                <a:latin typeface="PingFang SC"/>
              </a:rPr>
              <a:t>Foundation Skill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35440" y="3749039"/>
            <a:ext cx="2560320" cy="1645920"/>
          </a:xfrm>
          <a:prstGeom prst="roundRect">
            <a:avLst>
              <a:gd name="adj" fmla="val 8000"/>
            </a:avLst>
          </a:prstGeom>
          <a:solidFill>
            <a:srgbClr val="1E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35440" y="3931919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9F43"/>
                </a:solidFill>
                <a:latin typeface="SF Pro Display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480059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A8A9A"/>
                </a:solidFill>
                <a:latin typeface="PingFang SC"/>
              </a:rPr>
              <a:t>Docker 容器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5760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505060"/>
                </a:solidFill>
                <a:latin typeface="PingFang SC"/>
              </a:rPr>
              <a:t>一键 docker compose up → 4 容器启动 → Keycloak SSO 登录 → AI 对话 → 代码直接写入项目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PingFang SC"/>
              </a:rPr>
              <a:t>甜点场景：跨栈迁移 10x 提效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05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A8A9A"/>
                </a:solidFill>
                <a:latin typeface="PingFang SC"/>
              </a:rPr>
              <a:t>"没人懂旧技术栈"的困局，AI 可以系统性地解决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011680"/>
            <a:ext cx="2103120" cy="2743200"/>
          </a:xfrm>
          <a:prstGeom prst="roundRect">
            <a:avLst>
              <a:gd name="adj" fmla="val 8000"/>
            </a:avLst>
          </a:prstGeom>
          <a:solidFill>
            <a:srgbClr val="1E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2103120" cy="54864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2402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05060"/>
                </a:solidFill>
                <a:latin typeface="SF Pro Display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060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87AFF"/>
                </a:solidFill>
                <a:latin typeface="PingFang SC"/>
              </a:rPr>
              <a:t>AI 代码考古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0040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</a:pPr>
            <a:r>
              <a:rPr sz="1300" b="0">
                <a:solidFill>
                  <a:srgbClr val="E0E0E0"/>
                </a:solidFill>
                <a:latin typeface="PingFang SC"/>
              </a:rPr>
              <a:t>解析 .NET/.sln/.csproj
生成"项目说明书"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9260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505060"/>
                </a:solidFill>
                <a:latin typeface="SF Pro Display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61488" y="2011680"/>
            <a:ext cx="2103120" cy="2743200"/>
          </a:xfrm>
          <a:prstGeom prst="roundRect">
            <a:avLst>
              <a:gd name="adj" fmla="val 8000"/>
            </a:avLst>
          </a:prstGeom>
          <a:solidFill>
            <a:srgbClr val="1E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61488" y="2011680"/>
            <a:ext cx="210312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44368" y="22402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05060"/>
                </a:solidFill>
                <a:latin typeface="SF Pro Display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44368" y="26060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D4AA"/>
                </a:solidFill>
                <a:latin typeface="PingFang SC"/>
              </a:rPr>
              <a:t>业务规则提取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44368" y="320040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</a:pPr>
            <a:r>
              <a:rPr sz="1300" b="0">
                <a:solidFill>
                  <a:srgbClr val="E0E0E0"/>
                </a:solidFill>
                <a:latin typeface="PingFang SC"/>
              </a:rPr>
              <a:t>逐 Service 分析
提取规则 + 边界条件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8" y="29260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505060"/>
                </a:solidFill>
                <a:latin typeface="SF Pro Display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65776" y="2011680"/>
            <a:ext cx="2103120" cy="2743200"/>
          </a:xfrm>
          <a:prstGeom prst="roundRect">
            <a:avLst>
              <a:gd name="adj" fmla="val 8000"/>
            </a:avLst>
          </a:prstGeom>
          <a:solidFill>
            <a:srgbClr val="1E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65776" y="2011680"/>
            <a:ext cx="2103120" cy="54864"/>
          </a:xfrm>
          <a:prstGeom prst="rect">
            <a:avLst/>
          </a:prstGeom>
          <a:solidFill>
            <a:srgbClr val="A7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48656" y="22402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05060"/>
                </a:solidFill>
                <a:latin typeface="SF Pro Display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48656" y="26060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A77BFF"/>
                </a:solidFill>
                <a:latin typeface="PingFang SC"/>
              </a:rPr>
              <a:t>架构设计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48656" y="320040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</a:pPr>
            <a:r>
              <a:rPr sz="1300" b="0">
                <a:solidFill>
                  <a:srgbClr val="E0E0E0"/>
                </a:solidFill>
                <a:latin typeface="PingFang SC"/>
              </a:rPr>
              <a:t>.NET 概念 → Java 映射
依赖拓扑排列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31736" y="29260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505060"/>
                </a:solidFill>
                <a:latin typeface="SF Pro Display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70064" y="2011680"/>
            <a:ext cx="2103120" cy="2743200"/>
          </a:xfrm>
          <a:prstGeom prst="roundRect">
            <a:avLst>
              <a:gd name="adj" fmla="val 8000"/>
            </a:avLst>
          </a:prstGeom>
          <a:solidFill>
            <a:srgbClr val="1E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70064" y="2011680"/>
            <a:ext cx="2103120" cy="54864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52944" y="22402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05060"/>
                </a:solidFill>
                <a:latin typeface="SF Pro Display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52944" y="26060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9F43"/>
                </a:solidFill>
                <a:latin typeface="PingFang SC"/>
              </a:rPr>
              <a:t>逐模块迁移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52944" y="320040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</a:pPr>
            <a:r>
              <a:rPr sz="1300" b="0">
                <a:solidFill>
                  <a:srgbClr val="E0E0E0"/>
                </a:solidFill>
                <a:latin typeface="PingFang SC"/>
              </a:rPr>
              <a:t>SuperAgent 全新编写
Foundation Skills 保证规范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36024" y="29260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505060"/>
                </a:solidFill>
                <a:latin typeface="SF Pro Display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74352" y="2011680"/>
            <a:ext cx="2103120" cy="2743200"/>
          </a:xfrm>
          <a:prstGeom prst="roundRect">
            <a:avLst>
              <a:gd name="adj" fmla="val 8000"/>
            </a:avLst>
          </a:prstGeom>
          <a:solidFill>
            <a:srgbClr val="1E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674352" y="2011680"/>
            <a:ext cx="210312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57232" y="22402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05060"/>
                </a:solidFill>
                <a:latin typeface="SF Pro Display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57232" y="26060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D4AA"/>
                </a:solidFill>
                <a:latin typeface="PingFang SC"/>
              </a:rPr>
              <a:t>行为等价验证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57232" y="320040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</a:pPr>
            <a:r>
              <a:rPr sz="1300" b="0">
                <a:solidFill>
                  <a:srgbClr val="E0E0E0"/>
                </a:solidFill>
                <a:latin typeface="PingFang SC"/>
              </a:rPr>
              <a:t>API 契约对比
业务规则覆盖度检查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5120640"/>
            <a:ext cx="10698480" cy="1188720"/>
          </a:xfrm>
          <a:prstGeom prst="roundRect">
            <a:avLst>
              <a:gd name="adj" fmla="val 8000"/>
            </a:avLst>
          </a:prstGeom>
          <a:solidFill>
            <a:srgbClr val="0A2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97280" y="52578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A8A9A"/>
                </a:solidFill>
                <a:latin typeface="PingFang SC"/>
              </a:rPr>
              <a:t>传统方式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" y="56235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6B6B"/>
                </a:solidFill>
                <a:latin typeface="SF Pro Display"/>
              </a:rPr>
              <a:t>50-65 人天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400" y="53949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505060"/>
                </a:solidFill>
                <a:latin typeface="SF Pro Display"/>
              </a:rPr>
              <a:t>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03520" y="52578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A8A9A"/>
                </a:solidFill>
                <a:latin typeface="PingFang SC"/>
              </a:rPr>
              <a:t>Forge 辅助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03520" y="56235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0D4AA"/>
                </a:solidFill>
                <a:latin typeface="SF Pro Display"/>
              </a:rPr>
              <a:t>5-7 人天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06639" y="53949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505060"/>
                </a:solidFill>
                <a:latin typeface="SF Pro Display"/>
              </a:rPr>
              <a:t>=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09760" y="52578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A8A9A"/>
                </a:solidFill>
                <a:latin typeface="PingFang SC"/>
              </a:rPr>
              <a:t>提效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09760" y="56235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9F43"/>
                </a:solidFill>
                <a:latin typeface="SF Pro Display"/>
              </a:rPr>
              <a:t>10-13x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PingFang SC"/>
              </a:rPr>
              <a:t>速度不缺，缺的是安全网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058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A8A9A"/>
                </a:solidFill>
                <a:latin typeface="PingFang SC"/>
              </a:rPr>
              <a:t>2400 行/小时的 AI 生产速度 + 8 道质量底线 = 又快又稳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486400" cy="2011680"/>
          </a:xfrm>
          <a:prstGeom prst="roundRect">
            <a:avLst>
              <a:gd name="adj" fmla="val 8000"/>
            </a:avLst>
          </a:prstGeom>
          <a:solidFill>
            <a:srgbClr val="1E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548640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6B6B"/>
                </a:solidFill>
                <a:latin typeface="PingFang SC"/>
              </a:rPr>
              <a:t>真实教训</a:t>
            </a:r>
          </a:p>
          <a:p>
            <a:pPr algn="l">
              <a:spcBef>
                <a:spcPts val="1000"/>
              </a:spcBef>
              <a:spcAft>
                <a:spcPts val="400"/>
              </a:spcAft>
            </a:pPr>
            <a:r>
              <a:rPr sz="1500" b="0">
                <a:solidFill>
                  <a:srgbClr val="E0E0E0"/>
                </a:solidFill>
                <a:latin typeface="PingFang SC"/>
              </a:rPr>
              <a:t>Phase 1.5 首次 Docker 部署：13 次尝试，90 分钟，10 个计划外问题。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E0E0E0"/>
                </a:solidFill>
                <a:latin typeface="PingFang SC"/>
              </a:rPr>
              <a:t>CORS 通配符直接进入 commit，无人察觉。</a:t>
            </a:r>
          </a:p>
          <a:p>
            <a:pPr algn="l">
              <a:spcBef>
                <a:spcPts val="1000"/>
              </a:spcBef>
              <a:spcAft>
                <a:spcPts val="400"/>
              </a:spcAft>
            </a:pPr>
            <a:r>
              <a:rPr sz="1600" b="1">
                <a:solidFill>
                  <a:srgbClr val="FF6B6B"/>
                </a:solidFill>
                <a:latin typeface="PingFang SC"/>
              </a:rPr>
              <a:t>→ 首次部署成功率仅 7.7%（1/13）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828800"/>
            <a:ext cx="5120640" cy="2011680"/>
          </a:xfrm>
          <a:prstGeom prst="roundRect">
            <a:avLst>
              <a:gd name="adj" fmla="val 8000"/>
            </a:avLst>
          </a:prstGeom>
          <a:solidFill>
            <a:srgbClr val="1E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0" y="1828800"/>
            <a:ext cx="512064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0" y="210312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D4AA"/>
                </a:solidFill>
                <a:latin typeface="PingFang SC"/>
              </a:rPr>
              <a:t>系统性解决</a:t>
            </a:r>
          </a:p>
          <a:p>
            <a:pPr algn="l">
              <a:spcBef>
                <a:spcPts val="1000"/>
              </a:spcBef>
              <a:spcAft>
                <a:spcPts val="400"/>
              </a:spcAft>
            </a:pPr>
            <a:r>
              <a:rPr sz="1500" b="0">
                <a:solidFill>
                  <a:srgbClr val="E0E0E0"/>
                </a:solidFill>
                <a:latin typeface="PingFang SC"/>
              </a:rPr>
              <a:t>痛点编码为 Skill + 底线脚本，让未来的开发者无感获得保护。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E0E0E0"/>
                </a:solidFill>
                <a:latin typeface="PingFang SC"/>
              </a:rPr>
              <a:t>不依赖模型"自觉"，而是自动化质量关卡。</a:t>
            </a:r>
          </a:p>
          <a:p>
            <a:pPr algn="l">
              <a:spcBef>
                <a:spcPts val="1000"/>
              </a:spcBef>
              <a:spcAft>
                <a:spcPts val="400"/>
              </a:spcAft>
            </a:pPr>
            <a:r>
              <a:rPr sz="1600" b="1">
                <a:solidFill>
                  <a:srgbClr val="00D4AA"/>
                </a:solidFill>
                <a:latin typeface="PingFang SC"/>
              </a:rPr>
              <a:t>→ 目标首次部署成功率 ≥ 90%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06240"/>
            <a:ext cx="1280160" cy="1371600"/>
          </a:xfrm>
          <a:prstGeom prst="roundRect">
            <a:avLst>
              <a:gd name="adj" fmla="val 8000"/>
            </a:avLst>
          </a:prstGeom>
          <a:solidFill>
            <a:srgbClr val="1E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4206240"/>
            <a:ext cx="128016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4389120"/>
            <a:ext cx="113385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代码规范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4983480"/>
            <a:ext cx="11338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05060"/>
                </a:solidFill>
                <a:latin typeface="PingFang SC"/>
              </a:rPr>
              <a:t>阻断提交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57984" y="4206240"/>
            <a:ext cx="1280160" cy="1371600"/>
          </a:xfrm>
          <a:prstGeom prst="roundRect">
            <a:avLst>
              <a:gd name="adj" fmla="val 8000"/>
            </a:avLst>
          </a:prstGeom>
          <a:solidFill>
            <a:srgbClr val="1E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157984" y="4206240"/>
            <a:ext cx="128016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31136" y="4389120"/>
            <a:ext cx="113385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安全扫描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31136" y="4983480"/>
            <a:ext cx="11338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05060"/>
                </a:solidFill>
                <a:latin typeface="PingFang SC"/>
              </a:rPr>
              <a:t>阻断提交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84448" y="4206240"/>
            <a:ext cx="1280160" cy="1371600"/>
          </a:xfrm>
          <a:prstGeom prst="roundRect">
            <a:avLst>
              <a:gd name="adj" fmla="val 8000"/>
            </a:avLst>
          </a:prstGeom>
          <a:solidFill>
            <a:srgbClr val="1E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584448" y="4206240"/>
            <a:ext cx="128016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0" y="4389120"/>
            <a:ext cx="113385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测试覆盖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4983480"/>
            <a:ext cx="11338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05060"/>
                </a:solidFill>
                <a:latin typeface="PingFang SC"/>
              </a:rPr>
              <a:t>阻断 merge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10912" y="4206240"/>
            <a:ext cx="1280160" cy="1371600"/>
          </a:xfrm>
          <a:prstGeom prst="roundRect">
            <a:avLst>
              <a:gd name="adj" fmla="val 8000"/>
            </a:avLst>
          </a:prstGeom>
          <a:solidFill>
            <a:srgbClr val="1E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10912" y="4206240"/>
            <a:ext cx="128016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84064" y="4389120"/>
            <a:ext cx="113385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API 契约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84064" y="4983480"/>
            <a:ext cx="11338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05060"/>
                </a:solidFill>
                <a:latin typeface="PingFang SC"/>
              </a:rPr>
              <a:t>阻断 merge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37376" y="4206240"/>
            <a:ext cx="1280160" cy="1371600"/>
          </a:xfrm>
          <a:prstGeom prst="roundRect">
            <a:avLst>
              <a:gd name="adj" fmla="val 8000"/>
            </a:avLst>
          </a:prstGeom>
          <a:solidFill>
            <a:srgbClr val="1E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37376" y="4206240"/>
            <a:ext cx="128016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0528" y="4389120"/>
            <a:ext cx="113385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架构守护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0528" y="4983480"/>
            <a:ext cx="11338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05060"/>
                </a:solidFill>
                <a:latin typeface="PingFang SC"/>
              </a:rPr>
              <a:t>阻断 merge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63840" y="4206240"/>
            <a:ext cx="1280160" cy="1371600"/>
          </a:xfrm>
          <a:prstGeom prst="roundRect">
            <a:avLst>
              <a:gd name="adj" fmla="val 8000"/>
            </a:avLst>
          </a:prstGeom>
          <a:solidFill>
            <a:srgbClr val="1E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863840" y="4206240"/>
            <a:ext cx="1280160" cy="36576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36992" y="4389120"/>
            <a:ext cx="113385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部署预检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36992" y="4983480"/>
            <a:ext cx="11338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05060"/>
                </a:solidFill>
                <a:latin typeface="PingFang SC"/>
              </a:rPr>
              <a:t>阻断部署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290304" y="4206240"/>
            <a:ext cx="1280160" cy="1371600"/>
          </a:xfrm>
          <a:prstGeom prst="roundRect">
            <a:avLst>
              <a:gd name="adj" fmla="val 8000"/>
            </a:avLst>
          </a:prstGeom>
          <a:solidFill>
            <a:srgbClr val="1E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290304" y="4206240"/>
            <a:ext cx="1280160" cy="36576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63456" y="4389120"/>
            <a:ext cx="113385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运行健康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63456" y="4983480"/>
            <a:ext cx="11338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05060"/>
                </a:solidFill>
                <a:latin typeface="PingFang SC"/>
              </a:rPr>
              <a:t>阻断发布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716768" y="4206240"/>
            <a:ext cx="1280160" cy="1371600"/>
          </a:xfrm>
          <a:prstGeom prst="roundRect">
            <a:avLst>
              <a:gd name="adj" fmla="val 8000"/>
            </a:avLst>
          </a:prstGeom>
          <a:solidFill>
            <a:srgbClr val="1E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716768" y="4206240"/>
            <a:ext cx="1280160" cy="36576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789920" y="4389120"/>
            <a:ext cx="113385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设计回归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789920" y="4983480"/>
            <a:ext cx="11338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05060"/>
                </a:solidFill>
                <a:latin typeface="PingFang SC"/>
              </a:rPr>
              <a:t>阻断 merge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5852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A77BFF"/>
                </a:solidFill>
                <a:latin typeface="PingFang SC"/>
              </a:rPr>
              <a:t>原则：已验证的设计不可隐式退化  |  开发者痛点即平台能力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PingFang SC"/>
              </a:rPr>
              <a:t>从工具到平台到生态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8778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D4AA"/>
                </a:solidFill>
                <a:latin typeface="SF Pro Display"/>
              </a:rPr>
              <a:t>已完成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74520"/>
            <a:ext cx="822960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2651760" cy="3840480"/>
          </a:xfrm>
          <a:prstGeom prst="roundRect">
            <a:avLst>
              <a:gd name="adj" fmla="val 8000"/>
            </a:avLst>
          </a:prstGeom>
          <a:solidFill>
            <a:srgbClr val="1E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103120"/>
            <a:ext cx="2651760" cy="457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D4AA"/>
                </a:solidFill>
                <a:latin typeface="SF Pro Display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286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PingFang SC"/>
              </a:rPr>
              <a:t>Phase 0-1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8036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</a:pPr>
            <a:r>
              <a:rPr sz="1300" b="0">
                <a:solidFill>
                  <a:srgbClr val="E0E0E0"/>
                </a:solidFill>
                <a:latin typeface="PingFang SC"/>
              </a:rPr>
              <a:t>骨架 + Web IDE 实连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2103120"/>
            <a:ext cx="2651760" cy="3840480"/>
          </a:xfrm>
          <a:prstGeom prst="roundRect">
            <a:avLst>
              <a:gd name="adj" fmla="val 8000"/>
            </a:avLst>
          </a:prstGeom>
          <a:solidFill>
            <a:srgbClr val="1E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0" y="2103120"/>
            <a:ext cx="2651760" cy="457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0" y="23317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D4AA"/>
                </a:solidFill>
                <a:latin typeface="SF Pro Display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286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PingFang SC"/>
              </a:rPr>
              <a:t>Phase 1.5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288036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</a:pPr>
            <a:r>
              <a:rPr sz="1300" b="0">
                <a:solidFill>
                  <a:srgbClr val="E0E0E0"/>
                </a:solidFill>
                <a:latin typeface="PingFang SC"/>
              </a:rPr>
              <a:t>设计守护 + Docker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2103120"/>
            <a:ext cx="2651760" cy="3840480"/>
          </a:xfrm>
          <a:prstGeom prst="roundRect">
            <a:avLst>
              <a:gd name="adj" fmla="val 8000"/>
            </a:avLst>
          </a:prstGeom>
          <a:solidFill>
            <a:srgbClr val="1E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0" y="2103120"/>
            <a:ext cx="2651760" cy="457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23317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D4AA"/>
                </a:solidFill>
                <a:latin typeface="SF Pro Display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2286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PingFang SC"/>
              </a:rPr>
              <a:t>Phase 1.6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288036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</a:pPr>
            <a:r>
              <a:rPr sz="1300" b="0">
                <a:solidFill>
                  <a:srgbClr val="E0E0E0"/>
                </a:solidFill>
                <a:latin typeface="PingFang SC"/>
              </a:rPr>
              <a:t>AI 交付闭环 + SSO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0" y="14630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9F43"/>
                </a:solidFill>
                <a:latin typeface="SF Pro Display"/>
              </a:rPr>
              <a:t>下一步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784080" y="1874520"/>
            <a:ext cx="2743200" cy="36576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784080" y="2103120"/>
            <a:ext cx="2651760" cy="3840480"/>
          </a:xfrm>
          <a:prstGeom prst="roundRect">
            <a:avLst>
              <a:gd name="adj" fmla="val 8000"/>
            </a:avLst>
          </a:prstGeom>
          <a:solidFill>
            <a:srgbClr val="1E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784080" y="2103120"/>
            <a:ext cx="2651760" cy="45720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66960" y="23317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9F43"/>
                </a:solidFill>
                <a:latin typeface="SF Pro Display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0" y="2286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PingFang SC"/>
              </a:rPr>
              <a:t>Phase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6960" y="288036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</a:pPr>
            <a:r>
              <a:rPr sz="1300" b="0">
                <a:solidFill>
                  <a:srgbClr val="E0E0E0"/>
                </a:solidFill>
                <a:latin typeface="PingFang SC"/>
              </a:rPr>
              <a:t>单环运转
OODA 引擎 + SkillLoader
底线 CI + 用户试用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984480" y="1463040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05060"/>
                </a:solidFill>
                <a:latin typeface="SF Pro Display"/>
              </a:rPr>
              <a:t>远景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2984480" y="1874520"/>
            <a:ext cx="5486400" cy="36576"/>
          </a:xfrm>
          <a:prstGeom prst="rect">
            <a:avLst/>
          </a:prstGeom>
          <a:solidFill>
            <a:srgbClr val="505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2984480" y="2103120"/>
            <a:ext cx="2651760" cy="3840480"/>
          </a:xfrm>
          <a:prstGeom prst="roundRect">
            <a:avLst>
              <a:gd name="adj" fmla="val 8000"/>
            </a:avLst>
          </a:prstGeom>
          <a:solidFill>
            <a:srgbClr val="1E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2984480" y="2103120"/>
            <a:ext cx="2651760" cy="45720"/>
          </a:xfrm>
          <a:prstGeom prst="rect">
            <a:avLst/>
          </a:prstGeom>
          <a:solidFill>
            <a:srgbClr val="505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167360" y="23317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05060"/>
                </a:solidFill>
                <a:latin typeface="SF Pro Display"/>
              </a:rPr>
              <a:t>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624560" y="2286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PingFang SC"/>
              </a:rPr>
              <a:t>Phase 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167360" y="288036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</a:pPr>
            <a:r>
              <a:rPr sz="1300" b="0">
                <a:solidFill>
                  <a:srgbClr val="E0E0E0"/>
                </a:solidFill>
                <a:latin typeface="PingFang SC"/>
              </a:rPr>
              <a:t>双环闭合
进化环 + Runtime 抽象
Claude Code 变为可选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5910560" y="2103120"/>
            <a:ext cx="2651760" cy="3840480"/>
          </a:xfrm>
          <a:prstGeom prst="roundRect">
            <a:avLst>
              <a:gd name="adj" fmla="val 8000"/>
            </a:avLst>
          </a:prstGeom>
          <a:solidFill>
            <a:srgbClr val="1E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5910560" y="2103120"/>
            <a:ext cx="2651760" cy="45720"/>
          </a:xfrm>
          <a:prstGeom prst="rect">
            <a:avLst/>
          </a:prstGeom>
          <a:solidFill>
            <a:srgbClr val="505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6093440" y="23317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05060"/>
                </a:solidFill>
                <a:latin typeface="SF Pro Display"/>
              </a:rPr>
              <a:t>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550640" y="2286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PingFang SC"/>
              </a:rPr>
              <a:t>Phase 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093440" y="288036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</a:pPr>
            <a:r>
              <a:rPr sz="1300" b="0">
                <a:solidFill>
                  <a:srgbClr val="E0E0E0"/>
                </a:solidFill>
                <a:latin typeface="PingFang SC"/>
              </a:rPr>
              <a:t>持续进化
多 Runtime + Skill 生态
全组织部署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5760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87AFF"/>
                </a:solidFill>
                <a:latin typeface="PingFang SC"/>
              </a:rPr>
              <a:t>终局愿景：1 人 + SuperAgent 全自主交付  |  Skill 生态开放  |  知识持续进化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PingFang SC"/>
              </a:rPr>
              <a:t>下一步需要什么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698480" cy="1371600"/>
          </a:xfrm>
          <a:prstGeom prst="roundRect">
            <a:avLst>
              <a:gd name="adj" fmla="val 8000"/>
            </a:avLst>
          </a:prstGeom>
          <a:solidFill>
            <a:srgbClr val="1E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73152" cy="13716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D4AA"/>
                </a:solidFill>
                <a:latin typeface="SF Pro Display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7830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PingFang SC"/>
              </a:rPr>
              <a:t>API Key 配置 + 试用环境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24028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</a:pPr>
            <a:r>
              <a:rPr sz="1400" b="0">
                <a:solidFill>
                  <a:srgbClr val="8A8A9A"/>
                </a:solidFill>
                <a:latin typeface="PingFang SC"/>
              </a:rPr>
              <a:t>完成 Claude API Key 接入，搭建内部试用环境，3-5 人真实使用 ≥ 3 天。
当前 AI 交付闭环已就绪，差这一步就能跑通完整流程。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0" y="1920240"/>
            <a:ext cx="1645920" cy="411480"/>
          </a:xfrm>
          <a:prstGeom prst="roundRect">
            <a:avLst>
              <a:gd name="adj" fmla="val 8000"/>
            </a:avLst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紧迫度：高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91840"/>
            <a:ext cx="10698480" cy="1371600"/>
          </a:xfrm>
          <a:prstGeom prst="roundRect">
            <a:avLst>
              <a:gd name="adj" fmla="val 8000"/>
            </a:avLst>
          </a:prstGeom>
          <a:solidFill>
            <a:srgbClr val="1E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3291840"/>
            <a:ext cx="73152" cy="1371600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4747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9F43"/>
                </a:solidFill>
                <a:latin typeface="SF Pro Display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4290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PingFang SC"/>
              </a:rPr>
              <a:t>1 个试点项目（跨栈迁移优先）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88620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</a:pPr>
            <a:r>
              <a:rPr sz="1400" b="0">
                <a:solidFill>
                  <a:srgbClr val="8A8A9A"/>
                </a:solidFill>
                <a:latin typeface="PingFang SC"/>
              </a:rPr>
              <a:t>选择一个小型 .NET → Java 迁移模块，验证 10x 提效假设。
这是 Forge 最有说服力的场景，可产出量化 ROI 数据。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0" y="3566160"/>
            <a:ext cx="1645920" cy="411480"/>
          </a:xfrm>
          <a:prstGeom prst="roundRect">
            <a:avLst>
              <a:gd name="adj" fmla="val 8000"/>
            </a:avLst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F0F14"/>
                </a:solidFill>
                <a:latin typeface="PingFang SC"/>
              </a:rPr>
              <a:t>价值：最高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937760"/>
            <a:ext cx="10698480" cy="1371600"/>
          </a:xfrm>
          <a:prstGeom prst="roundRect">
            <a:avLst>
              <a:gd name="adj" fmla="val 8000"/>
            </a:avLst>
          </a:prstGeom>
          <a:solidFill>
            <a:srgbClr val="1E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4937760"/>
            <a:ext cx="73152" cy="1371600"/>
          </a:xfrm>
          <a:prstGeom prst="rect">
            <a:avLst/>
          </a:prstGeom>
          <a:solidFill>
            <a:srgbClr val="A7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1206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A77BFF"/>
                </a:solidFill>
                <a:latin typeface="SF Pro Display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50749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PingFang SC"/>
              </a:rPr>
              <a:t>CI/CD 管道接入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553212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</a:pPr>
            <a:r>
              <a:rPr sz="1400" b="0">
                <a:solidFill>
                  <a:srgbClr val="8A8A9A"/>
                </a:solidFill>
                <a:latin typeface="PingFang SC"/>
              </a:rPr>
              <a:t>将 8 个底线脚本集成到 GitHub Actions，让质量安全网自动生效。
从"设计了"到"跑起来"，需要 DevOps 协助。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0" y="5212080"/>
            <a:ext cx="1645920" cy="411480"/>
          </a:xfrm>
          <a:prstGeom prst="roundRect">
            <a:avLst>
              <a:gd name="adj" fmla="val 8000"/>
            </a:avLst>
          </a:prstGeom>
          <a:solidFill>
            <a:srgbClr val="A7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依赖：DevOps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760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05060"/>
                </a:solidFill>
                <a:latin typeface="PingFang SC"/>
              </a:rPr>
              <a:t>Phase 2 目标：OODA 底线通过率 ≥ 70%  |  跨栈迁移 PoC 业务规则覆盖 ≥ 90%  |  3+ 人完成试用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8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505060"/>
                </a:solidFill>
                <a:latin typeface="PingFang SC"/>
              </a:rPr>
              <a:t>不是给每个人配一个 AI 助手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PingFang SC"/>
              </a:rPr>
              <a:t>而是用 AI 重构交付流程本身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206240"/>
            <a:ext cx="210312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5720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0D4AA"/>
                </a:solidFill>
                <a:latin typeface="PingFang SC"/>
              </a:rPr>
              <a:t>Forge — 让 1 个人拥有 7 人团队的交付能力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6692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505060"/>
                </a:solidFill>
                <a:latin typeface="SF Pro Display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